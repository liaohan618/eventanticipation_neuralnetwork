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1" r:id="rId1"/>
    <p:sldMasterId id="2147483903" r:id="rId2"/>
  </p:sldMasterIdLst>
  <p:notesMasterIdLst>
    <p:notesMasterId r:id="rId11"/>
  </p:notesMasterIdLst>
  <p:sldIdLst>
    <p:sldId id="1261" r:id="rId3"/>
    <p:sldId id="1228" r:id="rId4"/>
    <p:sldId id="1269" r:id="rId5"/>
    <p:sldId id="1266" r:id="rId6"/>
    <p:sldId id="1267" r:id="rId7"/>
    <p:sldId id="1265" r:id="rId8"/>
    <p:sldId id="1268" r:id="rId9"/>
    <p:sldId id="1270" r:id="rId1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80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AD137-65F9-BA48-ADCC-853A6A9A76B4}" v="656" dt="2024-08-13T15:03:02.585"/>
    <p1510:client id="{A07B92AE-50D8-8BDC-DCF2-086FD7C0C475}" v="1831" dt="2024-08-14T08:23:43.435"/>
    <p1510:client id="{BEE7BFD6-9128-A7D4-924F-26F8F8ED4216}" v="334" dt="2024-08-14T11:54:19.641"/>
    <p1510:client id="{EF0C17C3-863F-82AE-EB6B-1D9A4E67D046}" v="145" dt="2024-08-14T08:44:37.665"/>
    <p1510:client id="{FFAF3883-971D-AFE9-21EF-872CB2724FED}" v="567" dt="2024-08-12T19:16:24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D47FFB-0981-674E-A8AD-E36727784CDC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BF16050-67F8-564A-AF76-581274898B4A}">
      <dgm:prSet phldrT="[Text]"/>
      <dgm:spPr/>
      <dgm:t>
        <a:bodyPr/>
        <a:lstStyle/>
        <a:p>
          <a:r>
            <a:rPr lang="en-GB"/>
            <a:t>Week 1</a:t>
          </a:r>
        </a:p>
      </dgm:t>
    </dgm:pt>
    <dgm:pt modelId="{7FACB0CF-0410-9446-AF01-4886B3F8FF12}" type="parTrans" cxnId="{21A22A3F-D40E-AA4C-B902-4AEB6EAE3B97}">
      <dgm:prSet/>
      <dgm:spPr/>
      <dgm:t>
        <a:bodyPr/>
        <a:lstStyle/>
        <a:p>
          <a:endParaRPr lang="en-GB"/>
        </a:p>
      </dgm:t>
    </dgm:pt>
    <dgm:pt modelId="{EFC6363A-5C89-9649-B90A-68FC9F0E2C3B}" type="sibTrans" cxnId="{21A22A3F-D40E-AA4C-B902-4AEB6EAE3B97}">
      <dgm:prSet/>
      <dgm:spPr/>
      <dgm:t>
        <a:bodyPr/>
        <a:lstStyle/>
        <a:p>
          <a:endParaRPr lang="en-GB"/>
        </a:p>
      </dgm:t>
    </dgm:pt>
    <dgm:pt modelId="{C9656808-0896-8D4D-8567-5943F301C426}">
      <dgm:prSet phldrT="[Text]"/>
      <dgm:spPr/>
      <dgm:t>
        <a:bodyPr/>
        <a:lstStyle/>
        <a:p>
          <a:r>
            <a:rPr lang="en-GB"/>
            <a:t>Investigation</a:t>
          </a:r>
        </a:p>
      </dgm:t>
    </dgm:pt>
    <dgm:pt modelId="{8CA22174-6DD6-B745-82A5-8ADA05B5B43E}" type="parTrans" cxnId="{F18ADC7B-3EAD-DC46-A0B3-75B85074CC50}">
      <dgm:prSet/>
      <dgm:spPr/>
      <dgm:t>
        <a:bodyPr/>
        <a:lstStyle/>
        <a:p>
          <a:endParaRPr lang="en-GB"/>
        </a:p>
      </dgm:t>
    </dgm:pt>
    <dgm:pt modelId="{DEA18767-652A-EB48-AEFA-9B9848A32FD9}" type="sibTrans" cxnId="{F18ADC7B-3EAD-DC46-A0B3-75B85074CC50}">
      <dgm:prSet/>
      <dgm:spPr/>
      <dgm:t>
        <a:bodyPr/>
        <a:lstStyle/>
        <a:p>
          <a:endParaRPr lang="en-GB"/>
        </a:p>
      </dgm:t>
    </dgm:pt>
    <dgm:pt modelId="{0C5B5E55-4A32-C347-BD1E-8AE425D4E646}">
      <dgm:prSet phldrT="[Text]"/>
      <dgm:spPr/>
      <dgm:t>
        <a:bodyPr/>
        <a:lstStyle/>
        <a:p>
          <a:r>
            <a:rPr lang="en-GB"/>
            <a:t>Plant Closure</a:t>
          </a:r>
        </a:p>
      </dgm:t>
    </dgm:pt>
    <dgm:pt modelId="{79819950-8348-1047-9FDD-B4A50F48CB97}" type="parTrans" cxnId="{85CCE75F-3847-2A49-9220-E2517D352134}">
      <dgm:prSet/>
      <dgm:spPr/>
      <dgm:t>
        <a:bodyPr/>
        <a:lstStyle/>
        <a:p>
          <a:endParaRPr lang="en-GB"/>
        </a:p>
      </dgm:t>
    </dgm:pt>
    <dgm:pt modelId="{D279B231-72EB-9F48-BE35-59E09F5C777D}" type="sibTrans" cxnId="{85CCE75F-3847-2A49-9220-E2517D352134}">
      <dgm:prSet/>
      <dgm:spPr/>
      <dgm:t>
        <a:bodyPr/>
        <a:lstStyle/>
        <a:p>
          <a:endParaRPr lang="en-GB"/>
        </a:p>
      </dgm:t>
    </dgm:pt>
    <dgm:pt modelId="{0121DB47-C5DE-F94D-9B67-8E2414121A64}">
      <dgm:prSet phldrT="[Text]"/>
      <dgm:spPr/>
      <dgm:t>
        <a:bodyPr/>
        <a:lstStyle/>
        <a:p>
          <a:r>
            <a:rPr lang="en-GB"/>
            <a:t>Week 2</a:t>
          </a:r>
        </a:p>
      </dgm:t>
    </dgm:pt>
    <dgm:pt modelId="{98C09BAC-E21F-6D48-83A0-5BD572700414}" type="parTrans" cxnId="{6B27E631-A84E-B649-8B74-EE71C1EE57B7}">
      <dgm:prSet/>
      <dgm:spPr/>
      <dgm:t>
        <a:bodyPr/>
        <a:lstStyle/>
        <a:p>
          <a:endParaRPr lang="en-GB"/>
        </a:p>
      </dgm:t>
    </dgm:pt>
    <dgm:pt modelId="{D6C76073-7A70-DA4C-8EE3-F194C3AAF0B6}" type="sibTrans" cxnId="{6B27E631-A84E-B649-8B74-EE71C1EE57B7}">
      <dgm:prSet/>
      <dgm:spPr/>
      <dgm:t>
        <a:bodyPr/>
        <a:lstStyle/>
        <a:p>
          <a:endParaRPr lang="en-GB"/>
        </a:p>
      </dgm:t>
    </dgm:pt>
    <dgm:pt modelId="{AFEDD88D-8ABC-AA4E-AC67-EECB43D3492B}">
      <dgm:prSet phldrT="[Text]"/>
      <dgm:spPr/>
      <dgm:t>
        <a:bodyPr/>
        <a:lstStyle/>
        <a:p>
          <a:r>
            <a:rPr lang="en-GB"/>
            <a:t>Lawsuit</a:t>
          </a:r>
        </a:p>
      </dgm:t>
    </dgm:pt>
    <dgm:pt modelId="{2EF9518D-F106-E14C-85D5-8EE843AEC222}" type="parTrans" cxnId="{5B7F83BF-22BC-8740-9D34-A069239237D1}">
      <dgm:prSet/>
      <dgm:spPr/>
      <dgm:t>
        <a:bodyPr/>
        <a:lstStyle/>
        <a:p>
          <a:endParaRPr lang="en-GB"/>
        </a:p>
      </dgm:t>
    </dgm:pt>
    <dgm:pt modelId="{DE6BA43A-B74F-054B-97AD-F3CDCA9FAE57}" type="sibTrans" cxnId="{5B7F83BF-22BC-8740-9D34-A069239237D1}">
      <dgm:prSet/>
      <dgm:spPr/>
      <dgm:t>
        <a:bodyPr/>
        <a:lstStyle/>
        <a:p>
          <a:endParaRPr lang="en-GB"/>
        </a:p>
      </dgm:t>
    </dgm:pt>
    <dgm:pt modelId="{41393919-2DD7-6D40-B191-0E76F938B105}">
      <dgm:prSet phldrT="[Text]"/>
      <dgm:spPr/>
      <dgm:t>
        <a:bodyPr/>
        <a:lstStyle/>
        <a:p>
          <a:r>
            <a:rPr lang="en-GB"/>
            <a:t>CEO Stepping Down</a:t>
          </a:r>
        </a:p>
      </dgm:t>
    </dgm:pt>
    <dgm:pt modelId="{2A0A252B-0DFE-D14F-8BFB-F1B0519B8F00}" type="parTrans" cxnId="{363C1829-1FF9-ED46-9DC2-AB6E90AC5290}">
      <dgm:prSet/>
      <dgm:spPr/>
      <dgm:t>
        <a:bodyPr/>
        <a:lstStyle/>
        <a:p>
          <a:endParaRPr lang="en-GB"/>
        </a:p>
      </dgm:t>
    </dgm:pt>
    <dgm:pt modelId="{DF5AF15A-9637-9943-8A4B-CCB08023217E}" type="sibTrans" cxnId="{363C1829-1FF9-ED46-9DC2-AB6E90AC5290}">
      <dgm:prSet/>
      <dgm:spPr/>
      <dgm:t>
        <a:bodyPr/>
        <a:lstStyle/>
        <a:p>
          <a:endParaRPr lang="en-GB"/>
        </a:p>
      </dgm:t>
    </dgm:pt>
    <dgm:pt modelId="{8F8B7707-988A-C64C-9211-26FC9CAED7A2}">
      <dgm:prSet phldrT="[Text]"/>
      <dgm:spPr/>
      <dgm:t>
        <a:bodyPr/>
        <a:lstStyle/>
        <a:p>
          <a:r>
            <a:rPr lang="en-GB"/>
            <a:t>Week 3</a:t>
          </a:r>
        </a:p>
      </dgm:t>
    </dgm:pt>
    <dgm:pt modelId="{FE33D483-8714-694C-B85F-64A366221862}" type="parTrans" cxnId="{392038D6-CF48-2C41-A917-15F7D622C377}">
      <dgm:prSet/>
      <dgm:spPr/>
      <dgm:t>
        <a:bodyPr/>
        <a:lstStyle/>
        <a:p>
          <a:endParaRPr lang="en-GB"/>
        </a:p>
      </dgm:t>
    </dgm:pt>
    <dgm:pt modelId="{ABF51C41-3876-8048-B8C1-19550E056DA7}" type="sibTrans" cxnId="{392038D6-CF48-2C41-A917-15F7D622C377}">
      <dgm:prSet/>
      <dgm:spPr/>
      <dgm:t>
        <a:bodyPr/>
        <a:lstStyle/>
        <a:p>
          <a:endParaRPr lang="en-GB"/>
        </a:p>
      </dgm:t>
    </dgm:pt>
    <dgm:pt modelId="{775B3D32-684C-0C4D-8588-2A19BE32E1C7}">
      <dgm:prSet phldrT="[Text]"/>
      <dgm:spPr/>
      <dgm:t>
        <a:bodyPr/>
        <a:lstStyle/>
        <a:p>
          <a:r>
            <a:rPr lang="en-GB"/>
            <a:t>Restructure</a:t>
          </a:r>
        </a:p>
      </dgm:t>
    </dgm:pt>
    <dgm:pt modelId="{284C3A90-10AE-1C4A-91FE-BBCC6FDFDA79}" type="parTrans" cxnId="{896BDC5D-5A06-B84C-B6AB-18FBFAA63ECB}">
      <dgm:prSet/>
      <dgm:spPr/>
      <dgm:t>
        <a:bodyPr/>
        <a:lstStyle/>
        <a:p>
          <a:endParaRPr lang="en-GB"/>
        </a:p>
      </dgm:t>
    </dgm:pt>
    <dgm:pt modelId="{D9EAE9A1-EB23-304C-AF0D-317944DE0525}" type="sibTrans" cxnId="{896BDC5D-5A06-B84C-B6AB-18FBFAA63ECB}">
      <dgm:prSet/>
      <dgm:spPr/>
      <dgm:t>
        <a:bodyPr/>
        <a:lstStyle/>
        <a:p>
          <a:endParaRPr lang="en-GB"/>
        </a:p>
      </dgm:t>
    </dgm:pt>
    <dgm:pt modelId="{6CE60BE4-B349-A54F-95FE-6FAA07528867}">
      <dgm:prSet phldrT="[Text]"/>
      <dgm:spPr/>
      <dgm:t>
        <a:bodyPr/>
        <a:lstStyle/>
        <a:p>
          <a:r>
            <a:rPr lang="en-GB"/>
            <a:t>Stock Price Down</a:t>
          </a:r>
        </a:p>
      </dgm:t>
    </dgm:pt>
    <dgm:pt modelId="{32EB0E8C-845A-C74F-B9DF-029861C37413}" type="parTrans" cxnId="{B6E1562A-08C2-A743-9249-0A72E355EB3B}">
      <dgm:prSet/>
      <dgm:spPr/>
      <dgm:t>
        <a:bodyPr/>
        <a:lstStyle/>
        <a:p>
          <a:endParaRPr lang="en-GB"/>
        </a:p>
      </dgm:t>
    </dgm:pt>
    <dgm:pt modelId="{0904D596-9249-4548-90E6-1A56664DC7E2}" type="sibTrans" cxnId="{B6E1562A-08C2-A743-9249-0A72E355EB3B}">
      <dgm:prSet/>
      <dgm:spPr/>
      <dgm:t>
        <a:bodyPr/>
        <a:lstStyle/>
        <a:p>
          <a:endParaRPr lang="en-GB"/>
        </a:p>
      </dgm:t>
    </dgm:pt>
    <dgm:pt modelId="{CF122DBC-6CF0-9342-98F0-F456DB8A2FBE}" type="pres">
      <dgm:prSet presAssocID="{56D47FFB-0981-674E-A8AD-E36727784CDC}" presName="Name0" presStyleCnt="0">
        <dgm:presLayoutVars>
          <dgm:dir/>
          <dgm:resizeHandles val="exact"/>
        </dgm:presLayoutVars>
      </dgm:prSet>
      <dgm:spPr/>
    </dgm:pt>
    <dgm:pt modelId="{F68C7F1F-8519-6A46-8052-741419B85208}" type="pres">
      <dgm:prSet presAssocID="{8BF16050-67F8-564A-AF76-581274898B4A}" presName="node" presStyleLbl="node1" presStyleIdx="0" presStyleCnt="3">
        <dgm:presLayoutVars>
          <dgm:bulletEnabled val="1"/>
        </dgm:presLayoutVars>
      </dgm:prSet>
      <dgm:spPr/>
    </dgm:pt>
    <dgm:pt modelId="{36137F17-67DD-244F-B245-75807BB88E90}" type="pres">
      <dgm:prSet presAssocID="{EFC6363A-5C89-9649-B90A-68FC9F0E2C3B}" presName="sibTrans" presStyleLbl="sibTrans2D1" presStyleIdx="0" presStyleCnt="2"/>
      <dgm:spPr/>
    </dgm:pt>
    <dgm:pt modelId="{F62C7655-44F2-DF41-AB16-B9F5570F3E36}" type="pres">
      <dgm:prSet presAssocID="{EFC6363A-5C89-9649-B90A-68FC9F0E2C3B}" presName="connectorText" presStyleLbl="sibTrans2D1" presStyleIdx="0" presStyleCnt="2"/>
      <dgm:spPr/>
    </dgm:pt>
    <dgm:pt modelId="{76C42854-A3E7-FF4C-A8A1-EA1018E75DDA}" type="pres">
      <dgm:prSet presAssocID="{0121DB47-C5DE-F94D-9B67-8E2414121A64}" presName="node" presStyleLbl="node1" presStyleIdx="1" presStyleCnt="3">
        <dgm:presLayoutVars>
          <dgm:bulletEnabled val="1"/>
        </dgm:presLayoutVars>
      </dgm:prSet>
      <dgm:spPr/>
    </dgm:pt>
    <dgm:pt modelId="{BB607243-0CB6-7242-B337-D134DA5B2AD4}" type="pres">
      <dgm:prSet presAssocID="{D6C76073-7A70-DA4C-8EE3-F194C3AAF0B6}" presName="sibTrans" presStyleLbl="sibTrans2D1" presStyleIdx="1" presStyleCnt="2"/>
      <dgm:spPr/>
    </dgm:pt>
    <dgm:pt modelId="{E22CA0D1-2612-DA41-B585-62A7106BE1B7}" type="pres">
      <dgm:prSet presAssocID="{D6C76073-7A70-DA4C-8EE3-F194C3AAF0B6}" presName="connectorText" presStyleLbl="sibTrans2D1" presStyleIdx="1" presStyleCnt="2"/>
      <dgm:spPr/>
    </dgm:pt>
    <dgm:pt modelId="{19666714-22F0-7949-9ED3-D0D94AD8B21A}" type="pres">
      <dgm:prSet presAssocID="{8F8B7707-988A-C64C-9211-26FC9CAED7A2}" presName="node" presStyleLbl="node1" presStyleIdx="2" presStyleCnt="3">
        <dgm:presLayoutVars>
          <dgm:bulletEnabled val="1"/>
        </dgm:presLayoutVars>
      </dgm:prSet>
      <dgm:spPr/>
    </dgm:pt>
  </dgm:ptLst>
  <dgm:cxnLst>
    <dgm:cxn modelId="{FCC44107-994D-A645-9E65-00850CE28ECB}" type="presOf" srcId="{6CE60BE4-B349-A54F-95FE-6FAA07528867}" destId="{19666714-22F0-7949-9ED3-D0D94AD8B21A}" srcOrd="0" destOrd="2" presId="urn:microsoft.com/office/officeart/2005/8/layout/process1"/>
    <dgm:cxn modelId="{363C1829-1FF9-ED46-9DC2-AB6E90AC5290}" srcId="{0121DB47-C5DE-F94D-9B67-8E2414121A64}" destId="{41393919-2DD7-6D40-B191-0E76F938B105}" srcOrd="1" destOrd="0" parTransId="{2A0A252B-0DFE-D14F-8BFB-F1B0519B8F00}" sibTransId="{DF5AF15A-9637-9943-8A4B-CCB08023217E}"/>
    <dgm:cxn modelId="{1246EB29-B0ED-704B-B911-89DFB321EA25}" type="presOf" srcId="{8BF16050-67F8-564A-AF76-581274898B4A}" destId="{F68C7F1F-8519-6A46-8052-741419B85208}" srcOrd="0" destOrd="0" presId="urn:microsoft.com/office/officeart/2005/8/layout/process1"/>
    <dgm:cxn modelId="{B6E1562A-08C2-A743-9249-0A72E355EB3B}" srcId="{8F8B7707-988A-C64C-9211-26FC9CAED7A2}" destId="{6CE60BE4-B349-A54F-95FE-6FAA07528867}" srcOrd="1" destOrd="0" parTransId="{32EB0E8C-845A-C74F-B9DF-029861C37413}" sibTransId="{0904D596-9249-4548-90E6-1A56664DC7E2}"/>
    <dgm:cxn modelId="{6B27E631-A84E-B649-8B74-EE71C1EE57B7}" srcId="{56D47FFB-0981-674E-A8AD-E36727784CDC}" destId="{0121DB47-C5DE-F94D-9B67-8E2414121A64}" srcOrd="1" destOrd="0" parTransId="{98C09BAC-E21F-6D48-83A0-5BD572700414}" sibTransId="{D6C76073-7A70-DA4C-8EE3-F194C3AAF0B6}"/>
    <dgm:cxn modelId="{21A22A3F-D40E-AA4C-B902-4AEB6EAE3B97}" srcId="{56D47FFB-0981-674E-A8AD-E36727784CDC}" destId="{8BF16050-67F8-564A-AF76-581274898B4A}" srcOrd="0" destOrd="0" parTransId="{7FACB0CF-0410-9446-AF01-4886B3F8FF12}" sibTransId="{EFC6363A-5C89-9649-B90A-68FC9F0E2C3B}"/>
    <dgm:cxn modelId="{896BDC5D-5A06-B84C-B6AB-18FBFAA63ECB}" srcId="{8F8B7707-988A-C64C-9211-26FC9CAED7A2}" destId="{775B3D32-684C-0C4D-8588-2A19BE32E1C7}" srcOrd="0" destOrd="0" parTransId="{284C3A90-10AE-1C4A-91FE-BBCC6FDFDA79}" sibTransId="{D9EAE9A1-EB23-304C-AF0D-317944DE0525}"/>
    <dgm:cxn modelId="{85CCE75F-3847-2A49-9220-E2517D352134}" srcId="{8BF16050-67F8-564A-AF76-581274898B4A}" destId="{0C5B5E55-4A32-C347-BD1E-8AE425D4E646}" srcOrd="1" destOrd="0" parTransId="{79819950-8348-1047-9FDD-B4A50F48CB97}" sibTransId="{D279B231-72EB-9F48-BE35-59E09F5C777D}"/>
    <dgm:cxn modelId="{6D9FA871-2185-994B-9C2E-6D7A188FC690}" type="presOf" srcId="{C9656808-0896-8D4D-8567-5943F301C426}" destId="{F68C7F1F-8519-6A46-8052-741419B85208}" srcOrd="0" destOrd="1" presId="urn:microsoft.com/office/officeart/2005/8/layout/process1"/>
    <dgm:cxn modelId="{64E2D75A-A5CF-4C4A-875F-8A912C2334F2}" type="presOf" srcId="{AFEDD88D-8ABC-AA4E-AC67-EECB43D3492B}" destId="{76C42854-A3E7-FF4C-A8A1-EA1018E75DDA}" srcOrd="0" destOrd="1" presId="urn:microsoft.com/office/officeart/2005/8/layout/process1"/>
    <dgm:cxn modelId="{F18ADC7B-3EAD-DC46-A0B3-75B85074CC50}" srcId="{8BF16050-67F8-564A-AF76-581274898B4A}" destId="{C9656808-0896-8D4D-8567-5943F301C426}" srcOrd="0" destOrd="0" parTransId="{8CA22174-6DD6-B745-82A5-8ADA05B5B43E}" sibTransId="{DEA18767-652A-EB48-AEFA-9B9848A32FD9}"/>
    <dgm:cxn modelId="{04DF2784-8190-8941-8CB1-E293EB71FF4A}" type="presOf" srcId="{EFC6363A-5C89-9649-B90A-68FC9F0E2C3B}" destId="{F62C7655-44F2-DF41-AB16-B9F5570F3E36}" srcOrd="1" destOrd="0" presId="urn:microsoft.com/office/officeart/2005/8/layout/process1"/>
    <dgm:cxn modelId="{24553087-9EBF-0D46-9104-6E0B529C7F37}" type="presOf" srcId="{56D47FFB-0981-674E-A8AD-E36727784CDC}" destId="{CF122DBC-6CF0-9342-98F0-F456DB8A2FBE}" srcOrd="0" destOrd="0" presId="urn:microsoft.com/office/officeart/2005/8/layout/process1"/>
    <dgm:cxn modelId="{A434638C-167F-1F42-9721-C14A4173752D}" type="presOf" srcId="{D6C76073-7A70-DA4C-8EE3-F194C3AAF0B6}" destId="{BB607243-0CB6-7242-B337-D134DA5B2AD4}" srcOrd="0" destOrd="0" presId="urn:microsoft.com/office/officeart/2005/8/layout/process1"/>
    <dgm:cxn modelId="{9BC6D79B-D3F3-594C-9AC9-AD93F1FEA3AF}" type="presOf" srcId="{41393919-2DD7-6D40-B191-0E76F938B105}" destId="{76C42854-A3E7-FF4C-A8A1-EA1018E75DDA}" srcOrd="0" destOrd="2" presId="urn:microsoft.com/office/officeart/2005/8/layout/process1"/>
    <dgm:cxn modelId="{2E571EA6-8696-5940-AF3F-C61E10E5C8A9}" type="presOf" srcId="{775B3D32-684C-0C4D-8588-2A19BE32E1C7}" destId="{19666714-22F0-7949-9ED3-D0D94AD8B21A}" srcOrd="0" destOrd="1" presId="urn:microsoft.com/office/officeart/2005/8/layout/process1"/>
    <dgm:cxn modelId="{3E077FA7-50D9-1D46-9F55-FFF5ACC16D21}" type="presOf" srcId="{8F8B7707-988A-C64C-9211-26FC9CAED7A2}" destId="{19666714-22F0-7949-9ED3-D0D94AD8B21A}" srcOrd="0" destOrd="0" presId="urn:microsoft.com/office/officeart/2005/8/layout/process1"/>
    <dgm:cxn modelId="{ADE8A5AB-19D0-3643-AB56-72268941DD90}" type="presOf" srcId="{D6C76073-7A70-DA4C-8EE3-F194C3AAF0B6}" destId="{E22CA0D1-2612-DA41-B585-62A7106BE1B7}" srcOrd="1" destOrd="0" presId="urn:microsoft.com/office/officeart/2005/8/layout/process1"/>
    <dgm:cxn modelId="{E66AFFAC-3C57-B24C-A82B-30D16BDC890D}" type="presOf" srcId="{0121DB47-C5DE-F94D-9B67-8E2414121A64}" destId="{76C42854-A3E7-FF4C-A8A1-EA1018E75DDA}" srcOrd="0" destOrd="0" presId="urn:microsoft.com/office/officeart/2005/8/layout/process1"/>
    <dgm:cxn modelId="{D38F72AF-56D3-114B-B5A0-D0DC5AC760DC}" type="presOf" srcId="{0C5B5E55-4A32-C347-BD1E-8AE425D4E646}" destId="{F68C7F1F-8519-6A46-8052-741419B85208}" srcOrd="0" destOrd="2" presId="urn:microsoft.com/office/officeart/2005/8/layout/process1"/>
    <dgm:cxn modelId="{5B7F83BF-22BC-8740-9D34-A069239237D1}" srcId="{0121DB47-C5DE-F94D-9B67-8E2414121A64}" destId="{AFEDD88D-8ABC-AA4E-AC67-EECB43D3492B}" srcOrd="0" destOrd="0" parTransId="{2EF9518D-F106-E14C-85D5-8EE843AEC222}" sibTransId="{DE6BA43A-B74F-054B-97AD-F3CDCA9FAE57}"/>
    <dgm:cxn modelId="{251838C6-CF9A-EE4A-814F-24B1992F87B3}" type="presOf" srcId="{EFC6363A-5C89-9649-B90A-68FC9F0E2C3B}" destId="{36137F17-67DD-244F-B245-75807BB88E90}" srcOrd="0" destOrd="0" presId="urn:microsoft.com/office/officeart/2005/8/layout/process1"/>
    <dgm:cxn modelId="{392038D6-CF48-2C41-A917-15F7D622C377}" srcId="{56D47FFB-0981-674E-A8AD-E36727784CDC}" destId="{8F8B7707-988A-C64C-9211-26FC9CAED7A2}" srcOrd="2" destOrd="0" parTransId="{FE33D483-8714-694C-B85F-64A366221862}" sibTransId="{ABF51C41-3876-8048-B8C1-19550E056DA7}"/>
    <dgm:cxn modelId="{28A0FAD8-A329-C047-B507-9AC67C154193}" type="presParOf" srcId="{CF122DBC-6CF0-9342-98F0-F456DB8A2FBE}" destId="{F68C7F1F-8519-6A46-8052-741419B85208}" srcOrd="0" destOrd="0" presId="urn:microsoft.com/office/officeart/2005/8/layout/process1"/>
    <dgm:cxn modelId="{8DBE81BC-F129-EC47-8686-8C97BF29A4DC}" type="presParOf" srcId="{CF122DBC-6CF0-9342-98F0-F456DB8A2FBE}" destId="{36137F17-67DD-244F-B245-75807BB88E90}" srcOrd="1" destOrd="0" presId="urn:microsoft.com/office/officeart/2005/8/layout/process1"/>
    <dgm:cxn modelId="{21A17776-D929-1F4E-881F-7265F62ADB4B}" type="presParOf" srcId="{36137F17-67DD-244F-B245-75807BB88E90}" destId="{F62C7655-44F2-DF41-AB16-B9F5570F3E36}" srcOrd="0" destOrd="0" presId="urn:microsoft.com/office/officeart/2005/8/layout/process1"/>
    <dgm:cxn modelId="{CA01212F-8A44-F442-9B0B-BA1CAAD75583}" type="presParOf" srcId="{CF122DBC-6CF0-9342-98F0-F456DB8A2FBE}" destId="{76C42854-A3E7-FF4C-A8A1-EA1018E75DDA}" srcOrd="2" destOrd="0" presId="urn:microsoft.com/office/officeart/2005/8/layout/process1"/>
    <dgm:cxn modelId="{945C5B70-8928-5E4C-9A61-E26E5AC9C12A}" type="presParOf" srcId="{CF122DBC-6CF0-9342-98F0-F456DB8A2FBE}" destId="{BB607243-0CB6-7242-B337-D134DA5B2AD4}" srcOrd="3" destOrd="0" presId="urn:microsoft.com/office/officeart/2005/8/layout/process1"/>
    <dgm:cxn modelId="{BF497173-C684-AC41-87AB-ED5AE44302A1}" type="presParOf" srcId="{BB607243-0CB6-7242-B337-D134DA5B2AD4}" destId="{E22CA0D1-2612-DA41-B585-62A7106BE1B7}" srcOrd="0" destOrd="0" presId="urn:microsoft.com/office/officeart/2005/8/layout/process1"/>
    <dgm:cxn modelId="{3E1ACEE8-60BB-A640-9FB6-5C948FE21910}" type="presParOf" srcId="{CF122DBC-6CF0-9342-98F0-F456DB8A2FBE}" destId="{19666714-22F0-7949-9ED3-D0D94AD8B21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C7F1F-8519-6A46-8052-741419B85208}">
      <dsp:nvSpPr>
        <dsp:cNvPr id="0" name=""/>
        <dsp:cNvSpPr/>
      </dsp:nvSpPr>
      <dsp:spPr>
        <a:xfrm>
          <a:off x="8794" y="349001"/>
          <a:ext cx="2628506" cy="15771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Week 1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Investigation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Plant Closure</a:t>
          </a:r>
        </a:p>
      </dsp:txBody>
      <dsp:txXfrm>
        <a:off x="54986" y="395193"/>
        <a:ext cx="2536122" cy="1484720"/>
      </dsp:txXfrm>
    </dsp:sp>
    <dsp:sp modelId="{36137F17-67DD-244F-B245-75807BB88E90}">
      <dsp:nvSpPr>
        <dsp:cNvPr id="0" name=""/>
        <dsp:cNvSpPr/>
      </dsp:nvSpPr>
      <dsp:spPr>
        <a:xfrm>
          <a:off x="2900151" y="811618"/>
          <a:ext cx="557243" cy="6518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kern="1200"/>
        </a:p>
      </dsp:txBody>
      <dsp:txXfrm>
        <a:off x="2900151" y="941992"/>
        <a:ext cx="390070" cy="391121"/>
      </dsp:txXfrm>
    </dsp:sp>
    <dsp:sp modelId="{76C42854-A3E7-FF4C-A8A1-EA1018E75DDA}">
      <dsp:nvSpPr>
        <dsp:cNvPr id="0" name=""/>
        <dsp:cNvSpPr/>
      </dsp:nvSpPr>
      <dsp:spPr>
        <a:xfrm>
          <a:off x="3688703" y="349001"/>
          <a:ext cx="2628506" cy="15771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Week 2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Lawsuit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CEO Stepping Down</a:t>
          </a:r>
        </a:p>
      </dsp:txBody>
      <dsp:txXfrm>
        <a:off x="3734895" y="395193"/>
        <a:ext cx="2536122" cy="1484720"/>
      </dsp:txXfrm>
    </dsp:sp>
    <dsp:sp modelId="{BB607243-0CB6-7242-B337-D134DA5B2AD4}">
      <dsp:nvSpPr>
        <dsp:cNvPr id="0" name=""/>
        <dsp:cNvSpPr/>
      </dsp:nvSpPr>
      <dsp:spPr>
        <a:xfrm>
          <a:off x="6580061" y="811618"/>
          <a:ext cx="557243" cy="6518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kern="1200"/>
        </a:p>
      </dsp:txBody>
      <dsp:txXfrm>
        <a:off x="6580061" y="941992"/>
        <a:ext cx="390070" cy="391121"/>
      </dsp:txXfrm>
    </dsp:sp>
    <dsp:sp modelId="{19666714-22F0-7949-9ED3-D0D94AD8B21A}">
      <dsp:nvSpPr>
        <dsp:cNvPr id="0" name=""/>
        <dsp:cNvSpPr/>
      </dsp:nvSpPr>
      <dsp:spPr>
        <a:xfrm>
          <a:off x="7368613" y="349001"/>
          <a:ext cx="2628506" cy="15771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Week 3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Restructure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Stock Price Down</a:t>
          </a:r>
        </a:p>
      </dsp:txBody>
      <dsp:txXfrm>
        <a:off x="7414805" y="395193"/>
        <a:ext cx="2536122" cy="1484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F791A-EE30-A94C-AFC7-B7BFB0AF9011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EF2DD-454E-A64A-A6DC-B986E0916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1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39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711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873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18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0229-01ED-CB40-BECA-A38F79B37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56E1F-7FE6-2541-B312-C07665BD3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2D523-BE3E-9C47-B363-39B15447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6C03C-BAAC-EC49-9987-91AB6428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280C0-E0AE-7140-A2F5-73EA5462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50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F28B3-948C-7542-9F35-9E1D9FFC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CE1C7-5E09-FE4C-AD55-9415170F8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EE95A-8591-BA48-BC8E-55C8FFE7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218B9-BD72-7745-8789-84FFB8B7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40A9-4EE6-D44D-B52A-F4139F47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40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2691-97C2-164F-AC55-2C3C6FA49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CB06E-308F-9843-9939-02F818C3D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A934F-98D3-7343-BDF4-43575A5E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567DF-A4D7-A347-B109-4DDF3703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27176-7141-9D42-82D6-D261688B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1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AE22-65B5-AE44-930C-B42B2AA6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0B456-F6CF-CC48-BADB-6844B0B24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CACBC-EDB8-704D-8952-C937372E7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AA8D9-C986-9F41-ABD5-A98B1D22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FAFC0-C678-3E44-9AF4-DCD132131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FDCD2-CF10-D048-8911-6AF4141F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0893-42CC-464C-A72B-B9AA5F18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28149-9D7A-3B42-B04D-75B87FFA2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7A319-4F77-FD41-8251-1ACCAF86E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92ADC9-CA63-834D-9781-EFA811BE8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97A55C-B721-6E41-9C99-A1402B68C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AB01A-2929-BA46-BADE-52BCDB75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75ABF-62F5-2043-9E7B-32DBFB9D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AE99A-6DF4-1344-9377-FBDFC16F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8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9617-77F7-B146-B7D2-80D282CAA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2FD73-5ACC-434E-96F8-5170521E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20523-099D-C044-B2DD-FCD2CF42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0109E-AF82-DE49-8204-FD3D2C06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7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69A43-84C8-E548-B07B-68F933106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171AE-6BDD-5E40-8A08-3920945D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B1D13-4866-4D4F-9CD3-940EE8E8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6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8809-43A6-7B46-B5FF-7DDBE4F3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08F1B-D0C3-6A46-A3C6-15F239CAA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E8CAA-63B2-5143-81E0-C4B23FB4E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86CCB-6B4F-904C-A441-ADFBB564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3010B-629C-E149-9181-B0B4D66C2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90292-5A47-8143-AB7A-B9D37DFA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8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FB190-1DA7-A64B-91A3-37B74F9CA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9EF2A-7458-2F45-AD02-E7D9FB082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10AA7-3297-CD4C-91B0-B20C0B70C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6E8BB-8D77-494C-8C0E-734F39F3C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FE491-25E7-0B4C-B562-788A86A7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6D5A0-3BD5-214B-BAF3-A928CAD6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2AE6-653C-284B-9EC2-4AFA3AD7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0A2BD-0FF5-1142-8129-995255E71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3247-B0DF-3742-A963-63631AF6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0DB8A-83D7-D743-B468-DB15F2316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D378A-489B-7E4C-A24B-2125D648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78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D8B88-F712-8748-A03F-A57702679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7C342-F104-E941-AA11-A50D6272E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F1A57-BC0B-C94F-94D9-7F69E436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0763-1DD3-A747-8180-CA3624F5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F8486-3A9F-C245-9D7A-B0E9419C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7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.jpeg"/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31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4396" y="0"/>
            <a:ext cx="12256395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287231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6234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800"/>
            </a:lvl1pPr>
          </a:lstStyle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add</a:t>
            </a:r>
            <a:r>
              <a:rPr lang="de-DE" noProof="0"/>
              <a:t> </a:t>
            </a:r>
            <a:r>
              <a:rPr lang="de-DE" noProof="0" err="1"/>
              <a:t>subtitle</a:t>
            </a:r>
            <a:endParaRPr lang="de-DE" noProof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700213"/>
            <a:ext cx="11165416" cy="46789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7825455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title style</a:t>
            </a:r>
          </a:p>
        </p:txBody>
      </p:sp>
      <p:pic>
        <p:nvPicPr>
          <p:cNvPr id="5" name="Bild 4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2906" y="188506"/>
            <a:ext cx="2796326" cy="860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906603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.jpeg"/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31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4396" y="0"/>
            <a:ext cx="12256395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1257750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119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474" r="1662"/>
          <a:stretch/>
        </p:blipFill>
        <p:spPr>
          <a:xfrm>
            <a:off x="-18473" y="-20021"/>
            <a:ext cx="12210474" cy="687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3138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/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701" y="-51"/>
            <a:ext cx="12265801" cy="68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7788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/>
          <p:cNvPicPr>
            <a:picLocks noChangeAspect="1"/>
          </p:cNvPicPr>
          <p:nvPr userDrawn="1"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308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720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/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685" y="-27293"/>
            <a:ext cx="12218069" cy="692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23800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/>
          <p:cNvPicPr>
            <a:picLocks noChangeAspect="1"/>
          </p:cNvPicPr>
          <p:nvPr userDrawn="1"/>
        </p:nvPicPr>
        <p:blipFill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263"/>
                    </a14:imgEffect>
                    <a14:imgEffect>
                      <a14:saturation sat="339000"/>
                    </a14:imgEffect>
                    <a14:imgEffect>
                      <a14:brightnessContrast bright="19000"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221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45987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/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55"/>
                    </a14:imgEffect>
                    <a14:imgEffect>
                      <a14:saturation sat="0"/>
                    </a14:imgEffect>
                    <a14:imgEffect>
                      <a14:brightnessContrast bright="-7000" contras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1752" y="0"/>
            <a:ext cx="12242555" cy="687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5953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5DE0-9693-004B-99EC-DE52265A3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0061B-ADF9-8142-BD16-42B0CCCB1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2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E16B8-F419-AB4E-9915-4AA12BE65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B9B5B-317C-CA4F-97BC-56BAC8831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26FD-4D63-3040-BA62-953B89DF1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68468-C0E6-2B43-823E-1BEE73949B3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F5578-704B-CE46-A3DF-782AF0715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2BA9A-38D7-514A-A588-542573BFF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522D7-3A50-4842-9BFA-7918C6533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3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692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11382377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de-DE" sz="650" noProof="0" smtClean="0">
                <a:solidFill>
                  <a:schemeClr val="tx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de-DE" sz="65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19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Char char="​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​"/>
        <a:defRPr lang="en-US" sz="1200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5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32800" indent="-1764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356400" indent="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None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316">
          <p15:clr>
            <a:srgbClr val="F26B43"/>
          </p15:clr>
        </p15:guide>
        <p15:guide id="5" pos="7364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10" pos="4961">
          <p15:clr>
            <a:srgbClr val="F26B43"/>
          </p15:clr>
        </p15:guide>
        <p15:guide id="11" orient="horz" pos="236">
          <p15:clr>
            <a:srgbClr val="F26B43"/>
          </p15:clr>
        </p15:guide>
        <p15:guide id="12" pos="1363">
          <p15:clr>
            <a:srgbClr val="F26B43"/>
          </p15:clr>
        </p15:guide>
        <p15:guide id="13" pos="1516">
          <p15:clr>
            <a:srgbClr val="F26B43"/>
          </p15:clr>
        </p15:guide>
        <p15:guide id="14" pos="2560">
          <p15:clr>
            <a:srgbClr val="F26B43"/>
          </p15:clr>
        </p15:guide>
        <p15:guide id="15" pos="2711">
          <p15:clr>
            <a:srgbClr val="F26B43"/>
          </p15:clr>
        </p15:guide>
        <p15:guide id="16" pos="6160">
          <p15:clr>
            <a:srgbClr val="F26B43"/>
          </p15:clr>
        </p15:guide>
        <p15:guide id="17" pos="3764">
          <p15:clr>
            <a:srgbClr val="F26B43"/>
          </p15:clr>
        </p15:guide>
        <p15:guide id="18" pos="3916">
          <p15:clr>
            <a:srgbClr val="F26B43"/>
          </p15:clr>
        </p15:guide>
        <p15:guide id="19" pos="3840">
          <p15:clr>
            <a:srgbClr val="F26B43"/>
          </p15:clr>
        </p15:guide>
        <p15:guide id="20" pos="6312">
          <p15:clr>
            <a:srgbClr val="F26B43"/>
          </p15:clr>
        </p15:guide>
        <p15:guide id="21" orient="horz" pos="1049">
          <p15:clr>
            <a:srgbClr val="F26B43"/>
          </p15:clr>
        </p15:guide>
        <p15:guide id="22" orient="horz" pos="6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hdphoto" Target="../media/hdphoto10.wdp"/><Relationship Id="rId3" Type="http://schemas.openxmlformats.org/officeDocument/2006/relationships/image" Target="../media/image12.tiff"/><Relationship Id="rId7" Type="http://schemas.microsoft.com/office/2007/relationships/hdphoto" Target="../media/hdphoto9.wdp"/><Relationship Id="rId12" Type="http://schemas.openxmlformats.org/officeDocument/2006/relationships/image" Target="../media/image19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8.tiff"/><Relationship Id="rId5" Type="http://schemas.microsoft.com/office/2007/relationships/hdphoto" Target="../media/hdphoto8.wdp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/>
        </p:nvSpPr>
        <p:spPr>
          <a:xfrm>
            <a:off x="35534" y="4710284"/>
            <a:ext cx="12129571" cy="114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Aft>
                <a:spcPts val="1000"/>
              </a:spcAft>
              <a:buSzPct val="100000"/>
              <a:defRPr/>
            </a:pPr>
            <a:r>
              <a:rPr lang="en-GB" sz="4400" b="1">
                <a:solidFill>
                  <a:srgbClr val="FFFFFF"/>
                </a:solidFill>
                <a:latin typeface="Open Sans" charset="0"/>
                <a:ea typeface="Open Sans" charset="0"/>
                <a:cs typeface="Open Sans" charset="0"/>
              </a:rPr>
              <a:t>Anticipating Events based on events</a:t>
            </a:r>
            <a:br>
              <a:rPr lang="en-GB" sz="4400" b="1">
                <a:solidFill>
                  <a:srgbClr val="FFFFFF"/>
                </a:solidFill>
                <a:latin typeface="Open Sans" charset="0"/>
                <a:ea typeface="Open Sans" charset="0"/>
                <a:cs typeface="Open Sans" charset="0"/>
              </a:rPr>
            </a:br>
            <a:r>
              <a:rPr lang="en-GB" sz="3200" b="1">
                <a:solidFill>
                  <a:schemeClr val="bg1">
                    <a:lumMod val="8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An ML Approach</a:t>
            </a:r>
            <a:endParaRPr lang="en-GB" sz="4400" b="1">
              <a:solidFill>
                <a:schemeClr val="bg1">
                  <a:lumMod val="8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grpSp>
        <p:nvGrpSpPr>
          <p:cNvPr id="21" name="Group 8">
            <a:extLst>
              <a:ext uri="{FF2B5EF4-FFF2-40B4-BE49-F238E27FC236}">
                <a16:creationId xmlns:a16="http://schemas.microsoft.com/office/drawing/2014/main" id="{CC64ECF1-6BE8-3145-8C42-D168F1289DAD}"/>
              </a:ext>
            </a:extLst>
          </p:cNvPr>
          <p:cNvGrpSpPr/>
          <p:nvPr/>
        </p:nvGrpSpPr>
        <p:grpSpPr>
          <a:xfrm>
            <a:off x="511067" y="6174733"/>
            <a:ext cx="11167790" cy="473675"/>
            <a:chOff x="511067" y="6294479"/>
            <a:chExt cx="11167790" cy="473675"/>
          </a:xfrm>
        </p:grpSpPr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0351386C-D2C9-DB48-B7F6-7310DAB7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13784" y="6359784"/>
              <a:ext cx="712014" cy="365178"/>
            </a:xfrm>
            <a:prstGeom prst="rect">
              <a:avLst/>
            </a:prstGeom>
          </p:spPr>
        </p:pic>
        <p:grpSp>
          <p:nvGrpSpPr>
            <p:cNvPr id="23" name="Gruppierung 3">
              <a:extLst>
                <a:ext uri="{FF2B5EF4-FFF2-40B4-BE49-F238E27FC236}">
                  <a16:creationId xmlns:a16="http://schemas.microsoft.com/office/drawing/2014/main" id="{B67A6EFD-69AF-A74A-B357-F7BF5C6DF866}"/>
                </a:ext>
              </a:extLst>
            </p:cNvPr>
            <p:cNvGrpSpPr/>
            <p:nvPr/>
          </p:nvGrpSpPr>
          <p:grpSpPr>
            <a:xfrm>
              <a:off x="6580197" y="6369992"/>
              <a:ext cx="897072" cy="365179"/>
              <a:chOff x="11228862" y="5439844"/>
              <a:chExt cx="1594163" cy="648950"/>
            </a:xfrm>
          </p:grpSpPr>
          <p:pic>
            <p:nvPicPr>
              <p:cNvPr id="30" name="Bild 4">
                <a:extLst>
                  <a:ext uri="{FF2B5EF4-FFF2-40B4-BE49-F238E27FC236}">
                    <a16:creationId xmlns:a16="http://schemas.microsoft.com/office/drawing/2014/main" id="{7819F56B-5D4A-3946-808A-3A6CF7052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228862" y="5650484"/>
                <a:ext cx="1594163" cy="438310"/>
              </a:xfrm>
              <a:prstGeom prst="rect">
                <a:avLst/>
              </a:prstGeom>
            </p:spPr>
          </p:pic>
          <p:sp>
            <p:nvSpPr>
              <p:cNvPr id="31" name="Textfeld 5">
                <a:extLst>
                  <a:ext uri="{FF2B5EF4-FFF2-40B4-BE49-F238E27FC236}">
                    <a16:creationId xmlns:a16="http://schemas.microsoft.com/office/drawing/2014/main" id="{7C278E88-4FAB-9549-A404-8E79B5605166}"/>
                  </a:ext>
                </a:extLst>
              </p:cNvPr>
              <p:cNvSpPr txBox="1"/>
              <p:nvPr/>
            </p:nvSpPr>
            <p:spPr>
              <a:xfrm>
                <a:off x="11228862" y="5439844"/>
                <a:ext cx="1594163" cy="225942"/>
              </a:xfrm>
              <a:prstGeom prst="rect">
                <a:avLst/>
              </a:prstGeom>
              <a:solidFill>
                <a:srgbClr val="B0294A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BEST OF SHOW</a:t>
                </a:r>
              </a:p>
            </p:txBody>
          </p:sp>
        </p:grpSp>
        <p:pic>
          <p:nvPicPr>
            <p:cNvPr id="24" name="Bild 6">
              <a:extLst>
                <a:ext uri="{FF2B5EF4-FFF2-40B4-BE49-F238E27FC236}">
                  <a16:creationId xmlns:a16="http://schemas.microsoft.com/office/drawing/2014/main" id="{F8718983-3734-BC40-BB70-BD10DFA45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45379" y="6359784"/>
              <a:ext cx="1333478" cy="357282"/>
            </a:xfrm>
            <a:prstGeom prst="rect">
              <a:avLst/>
            </a:prstGeom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F233BC97-AF03-D74D-9C9E-4C0133FBCC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24023" y="6337008"/>
              <a:ext cx="381006" cy="431146"/>
            </a:xfrm>
            <a:prstGeom prst="rect">
              <a:avLst/>
            </a:prstGeom>
          </p:spPr>
        </p:pic>
        <p:pic>
          <p:nvPicPr>
            <p:cNvPr id="26" name="Picture 22">
              <a:extLst>
                <a:ext uri="{FF2B5EF4-FFF2-40B4-BE49-F238E27FC236}">
                  <a16:creationId xmlns:a16="http://schemas.microsoft.com/office/drawing/2014/main" id="{CEB5A64D-3705-CB48-B831-0E3A5DAF8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72552" y="6369992"/>
              <a:ext cx="1160891" cy="372030"/>
            </a:xfrm>
            <a:prstGeom prst="rect">
              <a:avLst/>
            </a:prstGeom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7FBFE781-9909-8545-ADAE-11B2119CA8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51783" y="6336632"/>
              <a:ext cx="846841" cy="388330"/>
            </a:xfrm>
            <a:prstGeom prst="rect">
              <a:avLst/>
            </a:prstGeom>
          </p:spPr>
        </p:pic>
        <p:pic>
          <p:nvPicPr>
            <p:cNvPr id="28" name="Picture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17687C73-A30F-044F-95E6-0F22ADCE5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1067" y="6294479"/>
              <a:ext cx="996911" cy="430484"/>
            </a:xfrm>
            <a:prstGeom prst="rect">
              <a:avLst/>
            </a:prstGeom>
          </p:spPr>
        </p:pic>
        <p:pic>
          <p:nvPicPr>
            <p:cNvPr id="29" name="Picture 5">
              <a:extLst>
                <a:ext uri="{FF2B5EF4-FFF2-40B4-BE49-F238E27FC236}">
                  <a16:creationId xmlns:a16="http://schemas.microsoft.com/office/drawing/2014/main" id="{E597DD62-9449-D746-8421-8360F8BF2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54732" y="6369992"/>
              <a:ext cx="1012298" cy="357281"/>
            </a:xfrm>
            <a:prstGeom prst="rect">
              <a:avLst/>
            </a:prstGeom>
          </p:spPr>
        </p:pic>
      </p:grpSp>
      <p:sp>
        <p:nvSpPr>
          <p:cNvPr id="15" name="object 63">
            <a:extLst>
              <a:ext uri="{FF2B5EF4-FFF2-40B4-BE49-F238E27FC236}">
                <a16:creationId xmlns:a16="http://schemas.microsoft.com/office/drawing/2014/main" id="{47F1B2B7-51BA-F545-8BBD-74266B9D49D0}"/>
              </a:ext>
            </a:extLst>
          </p:cNvPr>
          <p:cNvSpPr/>
          <p:nvPr/>
        </p:nvSpPr>
        <p:spPr>
          <a:xfrm>
            <a:off x="8041499" y="0"/>
            <a:ext cx="4150501" cy="1259912"/>
          </a:xfrm>
          <a:prstGeom prst="rect">
            <a:avLst/>
          </a:prstGeom>
          <a:blipFill>
            <a:blip r:embed="rId1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83"/>
          </a:p>
        </p:txBody>
      </p:sp>
    </p:spTree>
    <p:extLst>
      <p:ext uri="{BB962C8B-B14F-4D97-AF65-F5344CB8AC3E}">
        <p14:creationId xmlns:p14="http://schemas.microsoft.com/office/powerpoint/2010/main" val="305861955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129975F-7D50-024F-BD9F-CE3BEAD7CA14}"/>
              </a:ext>
            </a:extLst>
          </p:cNvPr>
          <p:cNvSpPr txBox="1">
            <a:spLocks/>
          </p:cNvSpPr>
          <p:nvPr/>
        </p:nvSpPr>
        <p:spPr bwMode="gray">
          <a:xfrm>
            <a:off x="484262" y="329131"/>
            <a:ext cx="11188700" cy="692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err="1">
                <a:solidFill>
                  <a:srgbClr val="1E806A"/>
                </a:solidFill>
              </a:rPr>
              <a:t>Whats</a:t>
            </a:r>
            <a:r>
              <a:rPr lang="en-US" b="1">
                <a:solidFill>
                  <a:srgbClr val="1E806A"/>
                </a:solidFill>
              </a:rPr>
              <a:t> the Goal?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  <a:p>
            <a:pPr>
              <a:defRPr/>
            </a:pPr>
            <a:r>
              <a:rPr lang="de-DE" sz="1800" noProof="0" err="1">
                <a:solidFill>
                  <a:schemeClr val="tx1"/>
                </a:solidFill>
              </a:rPr>
              <a:t>Predict</a:t>
            </a:r>
            <a:r>
              <a:rPr lang="de-DE" sz="1800" noProof="0">
                <a:solidFill>
                  <a:schemeClr val="tx1"/>
                </a:solidFill>
              </a:rPr>
              <a:t> future </a:t>
            </a:r>
            <a:r>
              <a:rPr lang="de-DE" sz="1800" noProof="0" err="1">
                <a:solidFill>
                  <a:schemeClr val="tx1"/>
                </a:solidFill>
              </a:rPr>
              <a:t>events</a:t>
            </a:r>
            <a:r>
              <a:rPr lang="de-DE" sz="1800" noProof="0">
                <a:solidFill>
                  <a:schemeClr val="tx1"/>
                </a:solidFill>
              </a:rPr>
              <a:t>, a </a:t>
            </a:r>
            <a:r>
              <a:rPr lang="de-DE" sz="1800" noProof="0" err="1">
                <a:solidFill>
                  <a:schemeClr val="tx1"/>
                </a:solidFill>
              </a:rPr>
              <a:t>company</a:t>
            </a:r>
            <a:r>
              <a:rPr lang="de-DE" sz="1800" noProof="0">
                <a:solidFill>
                  <a:schemeClr val="tx1"/>
                </a:solidFill>
              </a:rPr>
              <a:t> will </a:t>
            </a:r>
            <a:r>
              <a:rPr lang="de-DE" sz="1800" noProof="0" err="1">
                <a:solidFill>
                  <a:schemeClr val="tx1"/>
                </a:solidFill>
              </a:rPr>
              <a:t>be</a:t>
            </a:r>
            <a:r>
              <a:rPr lang="de-DE" sz="1800" noProof="0">
                <a:solidFill>
                  <a:schemeClr val="tx1"/>
                </a:solidFill>
              </a:rPr>
              <a:t> </a:t>
            </a:r>
            <a:r>
              <a:rPr lang="de-DE" sz="1800" noProof="0" err="1">
                <a:solidFill>
                  <a:schemeClr val="tx1"/>
                </a:solidFill>
              </a:rPr>
              <a:t>involved</a:t>
            </a:r>
            <a:r>
              <a:rPr lang="de-DE" sz="1800" noProof="0">
                <a:solidFill>
                  <a:schemeClr val="tx1"/>
                </a:solidFill>
              </a:rPr>
              <a:t> in.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</p:txBody>
      </p:sp>
      <p:cxnSp>
        <p:nvCxnSpPr>
          <p:cNvPr id="20" name="Straight Connector 3">
            <a:extLst>
              <a:ext uri="{FF2B5EF4-FFF2-40B4-BE49-F238E27FC236}">
                <a16:creationId xmlns:a16="http://schemas.microsoft.com/office/drawing/2014/main" id="{28A52138-D351-A54C-A6D4-CD32C88B4ED7}"/>
              </a:ext>
            </a:extLst>
          </p:cNvPr>
          <p:cNvCxnSpPr/>
          <p:nvPr/>
        </p:nvCxnSpPr>
        <p:spPr>
          <a:xfrm>
            <a:off x="511851" y="988419"/>
            <a:ext cx="520349" cy="0"/>
          </a:xfrm>
          <a:prstGeom prst="line">
            <a:avLst/>
          </a:prstGeom>
          <a:ln w="38100">
            <a:solidFill>
              <a:srgbClr val="706F6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823A3F0-9401-DCAB-2227-44B636F25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4897685"/>
              </p:ext>
            </p:extLst>
          </p:nvPr>
        </p:nvGraphicFramePr>
        <p:xfrm>
          <a:off x="1093043" y="2291446"/>
          <a:ext cx="10005914" cy="2275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67040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129975F-7D50-024F-BD9F-CE3BEAD7CA14}"/>
              </a:ext>
            </a:extLst>
          </p:cNvPr>
          <p:cNvSpPr txBox="1">
            <a:spLocks/>
          </p:cNvSpPr>
          <p:nvPr/>
        </p:nvSpPr>
        <p:spPr bwMode="gray">
          <a:xfrm>
            <a:off x="484262" y="329131"/>
            <a:ext cx="11188700" cy="692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err="1">
                <a:solidFill>
                  <a:srgbClr val="1E806A"/>
                </a:solidFill>
              </a:rPr>
              <a:t>Whats</a:t>
            </a:r>
            <a:r>
              <a:rPr lang="en-US" b="1">
                <a:solidFill>
                  <a:srgbClr val="1E806A"/>
                </a:solidFill>
              </a:rPr>
              <a:t> the Goal?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  <a:p>
            <a:pPr>
              <a:defRPr/>
            </a:pPr>
            <a:r>
              <a:rPr lang="de-DE" sz="1800" noProof="0" err="1">
                <a:solidFill>
                  <a:schemeClr val="tx1"/>
                </a:solidFill>
              </a:rPr>
              <a:t>Predict</a:t>
            </a:r>
            <a:r>
              <a:rPr lang="de-DE" sz="1800" noProof="0">
                <a:solidFill>
                  <a:schemeClr val="tx1"/>
                </a:solidFill>
              </a:rPr>
              <a:t> </a:t>
            </a:r>
            <a:r>
              <a:rPr lang="de-DE" sz="1800" noProof="0" err="1">
                <a:solidFill>
                  <a:schemeClr val="tx1"/>
                </a:solidFill>
              </a:rPr>
              <a:t>future</a:t>
            </a:r>
            <a:r>
              <a:rPr lang="de-DE" sz="1800" noProof="0">
                <a:solidFill>
                  <a:schemeClr val="tx1"/>
                </a:solidFill>
              </a:rPr>
              <a:t> </a:t>
            </a:r>
            <a:r>
              <a:rPr lang="de-DE" sz="1800" noProof="0" err="1">
                <a:solidFill>
                  <a:schemeClr val="tx1"/>
                </a:solidFill>
              </a:rPr>
              <a:t>events</a:t>
            </a:r>
            <a:r>
              <a:rPr lang="de-DE" sz="1800" noProof="0">
                <a:solidFill>
                  <a:schemeClr val="tx1"/>
                </a:solidFill>
              </a:rPr>
              <a:t>, a </a:t>
            </a:r>
            <a:r>
              <a:rPr lang="de-DE" sz="1800" noProof="0" err="1">
                <a:solidFill>
                  <a:schemeClr val="tx1"/>
                </a:solidFill>
              </a:rPr>
              <a:t>company</a:t>
            </a:r>
            <a:r>
              <a:rPr lang="de-DE" sz="1800" noProof="0">
                <a:solidFill>
                  <a:schemeClr val="tx1"/>
                </a:solidFill>
              </a:rPr>
              <a:t> will </a:t>
            </a:r>
            <a:r>
              <a:rPr lang="de-DE" sz="1800" noProof="0" err="1">
                <a:solidFill>
                  <a:schemeClr val="tx1"/>
                </a:solidFill>
              </a:rPr>
              <a:t>be</a:t>
            </a:r>
            <a:r>
              <a:rPr lang="de-DE" sz="1800" noProof="0">
                <a:solidFill>
                  <a:schemeClr val="tx1"/>
                </a:solidFill>
              </a:rPr>
              <a:t> </a:t>
            </a:r>
            <a:r>
              <a:rPr lang="de-DE" sz="1800" noProof="0" err="1">
                <a:solidFill>
                  <a:schemeClr val="tx1"/>
                </a:solidFill>
              </a:rPr>
              <a:t>involved</a:t>
            </a:r>
            <a:r>
              <a:rPr lang="de-DE" sz="1800" noProof="0">
                <a:solidFill>
                  <a:schemeClr val="tx1"/>
                </a:solidFill>
              </a:rPr>
              <a:t> in.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</p:txBody>
      </p:sp>
      <p:cxnSp>
        <p:nvCxnSpPr>
          <p:cNvPr id="20" name="Straight Connector 3">
            <a:extLst>
              <a:ext uri="{FF2B5EF4-FFF2-40B4-BE49-F238E27FC236}">
                <a16:creationId xmlns:a16="http://schemas.microsoft.com/office/drawing/2014/main" id="{28A52138-D351-A54C-A6D4-CD32C88B4ED7}"/>
              </a:ext>
            </a:extLst>
          </p:cNvPr>
          <p:cNvCxnSpPr/>
          <p:nvPr/>
        </p:nvCxnSpPr>
        <p:spPr>
          <a:xfrm>
            <a:off x="511851" y="988419"/>
            <a:ext cx="520349" cy="0"/>
          </a:xfrm>
          <a:prstGeom prst="line">
            <a:avLst/>
          </a:prstGeom>
          <a:ln w="38100">
            <a:solidFill>
              <a:srgbClr val="706F6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155D5A-5BF9-90D0-FCF6-0E12AFE47B8B}"/>
              </a:ext>
            </a:extLst>
          </p:cNvPr>
          <p:cNvSpPr txBox="1"/>
          <p:nvPr/>
        </p:nvSpPr>
        <p:spPr>
          <a:xfrm>
            <a:off x="8131629" y="2875002"/>
            <a:ext cx="3576110" cy="15132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000"/>
              </a:spcAft>
              <a:buSzPct val="100000"/>
              <a:buFontTx/>
              <a:buChar char="-"/>
            </a:pPr>
            <a:r>
              <a:rPr lang="de-DE" noProof="0" err="1">
                <a:solidFill>
                  <a:schemeClr val="tx1"/>
                </a:solidFill>
              </a:rPr>
              <a:t>Similar</a:t>
            </a:r>
            <a:r>
              <a:rPr lang="de-DE" noProof="0">
                <a:solidFill>
                  <a:schemeClr val="tx1"/>
                </a:solidFill>
              </a:rPr>
              <a:t> </a:t>
            </a:r>
            <a:r>
              <a:rPr lang="de-DE" noProof="0" err="1">
                <a:solidFill>
                  <a:schemeClr val="tx1"/>
                </a:solidFill>
              </a:rPr>
              <a:t>to</a:t>
            </a:r>
            <a:r>
              <a:rPr lang="de-DE" noProof="0">
                <a:solidFill>
                  <a:schemeClr val="tx1"/>
                </a:solidFill>
              </a:rPr>
              <a:t> </a:t>
            </a:r>
            <a:r>
              <a:rPr lang="de-DE" noProof="0" err="1">
                <a:solidFill>
                  <a:schemeClr val="tx1"/>
                </a:solidFill>
              </a:rPr>
              <a:t>Maja‘s</a:t>
            </a:r>
            <a:r>
              <a:rPr lang="de-DE" noProof="0">
                <a:solidFill>
                  <a:schemeClr val="tx1"/>
                </a:solidFill>
              </a:rPr>
              <a:t> and </a:t>
            </a:r>
            <a:r>
              <a:rPr lang="de-DE" noProof="0" err="1">
                <a:solidFill>
                  <a:schemeClr val="tx1"/>
                </a:solidFill>
              </a:rPr>
              <a:t>Anna‘s</a:t>
            </a:r>
            <a:r>
              <a:rPr lang="de-DE" noProof="0">
                <a:solidFill>
                  <a:schemeClr val="tx1"/>
                </a:solidFill>
              </a:rPr>
              <a:t> </a:t>
            </a:r>
            <a:r>
              <a:rPr lang="de-DE" noProof="0" err="1">
                <a:solidFill>
                  <a:schemeClr val="tx1"/>
                </a:solidFill>
              </a:rPr>
              <a:t>previous</a:t>
            </a:r>
            <a:r>
              <a:rPr lang="de-DE" noProof="0">
                <a:solidFill>
                  <a:schemeClr val="tx1"/>
                </a:solidFill>
              </a:rPr>
              <a:t> </a:t>
            </a:r>
            <a:r>
              <a:rPr lang="de-DE" noProof="0" err="1">
                <a:solidFill>
                  <a:schemeClr val="tx1"/>
                </a:solidFill>
              </a:rPr>
              <a:t>work</a:t>
            </a:r>
            <a:r>
              <a:rPr lang="de-DE" noProof="0">
                <a:solidFill>
                  <a:schemeClr val="tx1"/>
                </a:solidFill>
              </a:rPr>
              <a:t> on Event Co-</a:t>
            </a:r>
            <a:r>
              <a:rPr lang="de-DE" noProof="0" err="1">
                <a:solidFill>
                  <a:schemeClr val="tx1"/>
                </a:solidFill>
              </a:rPr>
              <a:t>dependency</a:t>
            </a:r>
            <a:endParaRPr lang="de-DE" noProof="0"/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SzPct val="100000"/>
              <a:buFontTx/>
              <a:buChar char="-"/>
            </a:pPr>
            <a:r>
              <a:rPr lang="de-DE" noProof="0">
                <a:solidFill>
                  <a:schemeClr val="tx1"/>
                </a:solidFill>
              </a:rPr>
              <a:t>shifting </a:t>
            </a:r>
            <a:r>
              <a:rPr lang="de-DE" noProof="0" err="1">
                <a:solidFill>
                  <a:schemeClr val="tx1"/>
                </a:solidFill>
              </a:rPr>
              <a:t>from</a:t>
            </a:r>
            <a:r>
              <a:rPr lang="de-DE" noProof="0">
                <a:solidFill>
                  <a:schemeClr val="tx1"/>
                </a:solidFill>
              </a:rPr>
              <a:t> </a:t>
            </a:r>
            <a:r>
              <a:rPr lang="de-DE" noProof="0" err="1">
                <a:solidFill>
                  <a:schemeClr val="tx1"/>
                </a:solidFill>
              </a:rPr>
              <a:t>linguistic</a:t>
            </a:r>
            <a:r>
              <a:rPr lang="de-DE" noProof="0">
                <a:solidFill>
                  <a:schemeClr val="tx1"/>
                </a:solidFill>
              </a:rPr>
              <a:t> </a:t>
            </a:r>
            <a:r>
              <a:rPr lang="de-DE" noProof="0" err="1">
                <a:solidFill>
                  <a:schemeClr val="tx1"/>
                </a:solidFill>
              </a:rPr>
              <a:t>to</a:t>
            </a:r>
            <a:r>
              <a:rPr lang="de-DE" noProof="0">
                <a:solidFill>
                  <a:schemeClr val="tx1"/>
                </a:solidFill>
              </a:rPr>
              <a:t> </a:t>
            </a:r>
            <a:r>
              <a:rPr lang="de-DE"/>
              <a:t>p</a:t>
            </a:r>
            <a:r>
              <a:rPr lang="de-DE" noProof="0" err="1">
                <a:solidFill>
                  <a:schemeClr val="tx1"/>
                </a:solidFill>
              </a:rPr>
              <a:t>roduct</a:t>
            </a:r>
            <a:r>
              <a:rPr lang="de-DE" noProof="0">
                <a:solidFill>
                  <a:schemeClr val="tx1"/>
                </a:solidFill>
              </a:rPr>
              <a:t> Fokus</a:t>
            </a:r>
          </a:p>
        </p:txBody>
      </p:sp>
      <p:pic>
        <p:nvPicPr>
          <p:cNvPr id="5" name="Picture 4" descr="A close-up of two arm wrestling&#10;&#10;Description automatically generated">
            <a:extLst>
              <a:ext uri="{FF2B5EF4-FFF2-40B4-BE49-F238E27FC236}">
                <a16:creationId xmlns:a16="http://schemas.microsoft.com/office/drawing/2014/main" id="{E44BC4D6-98A0-9357-E068-6C092B742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61" y="1341295"/>
            <a:ext cx="6866311" cy="493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656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network of connected lines and dots&#10;&#10;Description automatically generated">
            <a:extLst>
              <a:ext uri="{FF2B5EF4-FFF2-40B4-BE49-F238E27FC236}">
                <a16:creationId xmlns:a16="http://schemas.microsoft.com/office/drawing/2014/main" id="{986B956D-7671-9208-00A3-9A98DADB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636" y="1945897"/>
            <a:ext cx="7419502" cy="47936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85FD0FB-4785-3324-63D8-31B04925DF9D}"/>
              </a:ext>
            </a:extLst>
          </p:cNvPr>
          <p:cNvSpPr/>
          <p:nvPr/>
        </p:nvSpPr>
        <p:spPr bwMode="gray">
          <a:xfrm>
            <a:off x="125895" y="1149626"/>
            <a:ext cx="1470991" cy="298175"/>
          </a:xfrm>
          <a:prstGeom prst="rect">
            <a:avLst/>
          </a:prstGeom>
          <a:noFill/>
          <a:ln w="57150" algn="ctr">
            <a:solidFill>
              <a:srgbClr val="1E806A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129975F-7D50-024F-BD9F-CE3BEAD7CA14}"/>
              </a:ext>
            </a:extLst>
          </p:cNvPr>
          <p:cNvSpPr txBox="1">
            <a:spLocks/>
          </p:cNvSpPr>
          <p:nvPr/>
        </p:nvSpPr>
        <p:spPr bwMode="gray">
          <a:xfrm>
            <a:off x="504672" y="281507"/>
            <a:ext cx="11168290" cy="7397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b="1">
                <a:solidFill>
                  <a:srgbClr val="1E806A"/>
                </a:solidFill>
              </a:rPr>
              <a:t>Multilayer Neural Network </a:t>
            </a:r>
            <a:endParaRPr lang="en-US"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</p:txBody>
      </p:sp>
      <p:cxnSp>
        <p:nvCxnSpPr>
          <p:cNvPr id="20" name="Straight Connector 3">
            <a:extLst>
              <a:ext uri="{FF2B5EF4-FFF2-40B4-BE49-F238E27FC236}">
                <a16:creationId xmlns:a16="http://schemas.microsoft.com/office/drawing/2014/main" id="{28A52138-D351-A54C-A6D4-CD32C88B4ED7}"/>
              </a:ext>
            </a:extLst>
          </p:cNvPr>
          <p:cNvCxnSpPr/>
          <p:nvPr/>
        </p:nvCxnSpPr>
        <p:spPr>
          <a:xfrm>
            <a:off x="505047" y="988419"/>
            <a:ext cx="520349" cy="0"/>
          </a:xfrm>
          <a:prstGeom prst="line">
            <a:avLst/>
          </a:prstGeom>
          <a:ln w="38100">
            <a:solidFill>
              <a:srgbClr val="706F6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B4BD95-7C37-CACF-7997-5E76B200FB64}"/>
              </a:ext>
            </a:extLst>
          </p:cNvPr>
          <p:cNvSpPr txBox="1"/>
          <p:nvPr/>
        </p:nvSpPr>
        <p:spPr>
          <a:xfrm>
            <a:off x="165357" y="1158544"/>
            <a:ext cx="2637530" cy="54630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 sz="1600" b="1">
                <a:ea typeface="Verdana"/>
              </a:rPr>
              <a:t>Input Layer</a:t>
            </a:r>
            <a:endParaRPr lang="en-US"/>
          </a:p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ea typeface="Verdana"/>
              </a:rPr>
              <a:t>1285 (dates) x 119 (events)</a:t>
            </a:r>
          </a:p>
          <a:p>
            <a:pPr>
              <a:spcAft>
                <a:spcPts val="1000"/>
              </a:spcAft>
            </a:pPr>
            <a:endParaRPr lang="en-US" sz="1400" b="1">
              <a:solidFill>
                <a:schemeClr val="bg1">
                  <a:lumMod val="49000"/>
                </a:schemeClr>
              </a:solidFill>
              <a:ea typeface="Verdana"/>
            </a:endParaRPr>
          </a:p>
          <a:p>
            <a:pPr>
              <a:spcAft>
                <a:spcPts val="1000"/>
              </a:spcAft>
            </a:pPr>
            <a:r>
              <a:rPr lang="en-US" sz="1400" b="1">
                <a:solidFill>
                  <a:schemeClr val="bg1">
                    <a:lumMod val="49000"/>
                  </a:schemeClr>
                </a:solidFill>
                <a:ea typeface="Verdana"/>
              </a:rPr>
              <a:t> Original input :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  <a:p>
            <a:pPr>
              <a:spcAft>
                <a:spcPts val="1000"/>
              </a:spcAft>
            </a:pPr>
            <a:r>
              <a:rPr lang="en-US" sz="1600">
                <a:ea typeface="Verdana"/>
              </a:rPr>
              <a:t>On </a:t>
            </a:r>
            <a:r>
              <a:rPr lang="en-US" sz="1600">
                <a:solidFill>
                  <a:schemeClr val="accent3"/>
                </a:solidFill>
                <a:ea typeface="Verdana"/>
              </a:rPr>
              <a:t>2023-07-01</a:t>
            </a:r>
            <a:r>
              <a:rPr lang="en-US" sz="1600">
                <a:ea typeface="Verdana"/>
              </a:rPr>
              <a:t>, </a:t>
            </a:r>
            <a:r>
              <a:rPr lang="en-US" sz="1600">
                <a:solidFill>
                  <a:srgbClr val="FF0000"/>
                </a:solidFill>
                <a:ea typeface="Verdana"/>
              </a:rPr>
              <a:t>'Product Launch'</a:t>
            </a:r>
            <a:r>
              <a:rPr lang="en-US" sz="1600">
                <a:ea typeface="Verdana"/>
              </a:rPr>
              <a:t> appeared </a:t>
            </a:r>
            <a:r>
              <a:rPr lang="en-US" sz="1600">
                <a:solidFill>
                  <a:srgbClr val="FFC000"/>
                </a:solidFill>
                <a:ea typeface="Verdana"/>
              </a:rPr>
              <a:t>198 </a:t>
            </a:r>
            <a:r>
              <a:rPr lang="en-US" sz="1600">
                <a:ea typeface="Verdana"/>
              </a:rPr>
              <a:t>times</a:t>
            </a:r>
          </a:p>
          <a:p>
            <a:pPr>
              <a:spcAft>
                <a:spcPts val="1000"/>
              </a:spcAft>
            </a:pPr>
            <a:endParaRPr lang="en-US" sz="1400" u="sng">
              <a:ea typeface="Verdana"/>
            </a:endParaRPr>
          </a:p>
          <a:p>
            <a:pPr>
              <a:spcAft>
                <a:spcPts val="1000"/>
              </a:spcAft>
            </a:pPr>
            <a:r>
              <a:rPr lang="en-US" sz="1400" b="1">
                <a:solidFill>
                  <a:schemeClr val="bg1">
                    <a:lumMod val="49000"/>
                  </a:schemeClr>
                </a:solidFill>
                <a:ea typeface="Verdana"/>
              </a:rPr>
              <a:t>One-hot encoding input: </a:t>
            </a:r>
          </a:p>
          <a:p>
            <a:pPr>
              <a:spcAft>
                <a:spcPts val="1000"/>
              </a:spcAft>
            </a:pPr>
            <a:r>
              <a:rPr lang="en-US" sz="1600">
                <a:ea typeface="Verdana"/>
              </a:rPr>
              <a:t>If </a:t>
            </a:r>
            <a:r>
              <a:rPr lang="en-US" sz="1600" b="1">
                <a:solidFill>
                  <a:srgbClr val="FFC000"/>
                </a:solidFill>
                <a:ea typeface="Verdana"/>
              </a:rPr>
              <a:t>'frequency' </a:t>
            </a:r>
            <a:r>
              <a:rPr lang="en-US" sz="1600">
                <a:ea typeface="Verdana"/>
              </a:rPr>
              <a:t>(</a:t>
            </a:r>
            <a:r>
              <a:rPr lang="en-US" sz="1600">
                <a:solidFill>
                  <a:schemeClr val="accent3"/>
                </a:solidFill>
                <a:ea typeface="Verdana"/>
              </a:rPr>
              <a:t>on a date</a:t>
            </a:r>
            <a:r>
              <a:rPr lang="en-US" sz="1600">
                <a:ea typeface="Verdana"/>
              </a:rPr>
              <a:t>) </a:t>
            </a:r>
            <a:r>
              <a:rPr lang="en-US" sz="1600" b="1">
                <a:ea typeface="Verdana"/>
              </a:rPr>
              <a:t>&gt;=</a:t>
            </a:r>
            <a:r>
              <a:rPr lang="en-US" sz="1600">
                <a:ea typeface="Verdana"/>
              </a:rPr>
              <a:t> </a:t>
            </a:r>
            <a:r>
              <a:rPr lang="en-US" sz="1600" b="1">
                <a:solidFill>
                  <a:srgbClr val="FFC000"/>
                </a:solidFill>
                <a:ea typeface="Verdana"/>
              </a:rPr>
              <a:t>median </a:t>
            </a:r>
            <a:r>
              <a:rPr lang="en-US" sz="1600">
                <a:ea typeface="Verdana"/>
              </a:rPr>
              <a:t>(of all dates)</a:t>
            </a:r>
          </a:p>
          <a:p>
            <a:pPr>
              <a:spcAft>
                <a:spcPts val="1000"/>
              </a:spcAft>
            </a:pPr>
            <a:r>
              <a:rPr lang="en-US" sz="1600">
                <a:ea typeface="Verdana"/>
              </a:rPr>
              <a:t>- 'Product Launch' </a:t>
            </a:r>
            <a:r>
              <a:rPr lang="en-US" sz="1600">
                <a:solidFill>
                  <a:srgbClr val="FF0000"/>
                </a:solidFill>
                <a:ea typeface="Verdana"/>
              </a:rPr>
              <a:t>'Product Launch' </a:t>
            </a:r>
            <a:r>
              <a:rPr lang="en-US" sz="1600">
                <a:ea typeface="Verdana"/>
              </a:rPr>
              <a:t>= </a:t>
            </a:r>
            <a:r>
              <a:rPr lang="en-US" sz="1600">
                <a:solidFill>
                  <a:srgbClr val="FFC000"/>
                </a:solidFill>
                <a:ea typeface="Verdana"/>
              </a:rPr>
              <a:t>1 </a:t>
            </a:r>
            <a:r>
              <a:rPr lang="en-US" sz="1600">
                <a:ea typeface="Verdana"/>
              </a:rPr>
              <a:t>(</a:t>
            </a:r>
            <a:r>
              <a:rPr lang="en-US" sz="1600">
                <a:solidFill>
                  <a:schemeClr val="accent3"/>
                </a:solidFill>
                <a:ea typeface="Verdana"/>
              </a:rPr>
              <a:t>on a date</a:t>
            </a:r>
            <a:r>
              <a:rPr lang="en-US" sz="1600">
                <a:ea typeface="Verdana"/>
              </a:rPr>
              <a:t>)</a:t>
            </a:r>
          </a:p>
          <a:p>
            <a:pPr>
              <a:spcAft>
                <a:spcPts val="1000"/>
              </a:spcAft>
            </a:pPr>
            <a:r>
              <a:rPr lang="en-US" sz="1400">
                <a:ea typeface="Verdana"/>
              </a:rPr>
              <a:t>- </a:t>
            </a:r>
            <a:r>
              <a:rPr lang="en-US" sz="1600">
                <a:ea typeface="Verdana"/>
              </a:rPr>
              <a:t>Otherwise </a:t>
            </a:r>
            <a:r>
              <a:rPr lang="en-US" sz="1600">
                <a:solidFill>
                  <a:srgbClr val="FF0000"/>
                </a:solidFill>
                <a:ea typeface="Verdana"/>
              </a:rPr>
              <a:t>'Product Launch' </a:t>
            </a:r>
            <a:r>
              <a:rPr lang="en-US" sz="1600">
                <a:ea typeface="Verdana"/>
              </a:rPr>
              <a:t>= </a:t>
            </a:r>
            <a:r>
              <a:rPr lang="en-US" sz="1600">
                <a:solidFill>
                  <a:srgbClr val="FFC000"/>
                </a:solidFill>
                <a:ea typeface="Verdana"/>
              </a:rPr>
              <a:t>0 </a:t>
            </a:r>
            <a:r>
              <a:rPr lang="en-US" sz="1600">
                <a:ea typeface="Verdana"/>
              </a:rPr>
              <a:t>(</a:t>
            </a:r>
            <a:r>
              <a:rPr lang="en-US" sz="1600">
                <a:solidFill>
                  <a:schemeClr val="accent3"/>
                </a:solidFill>
                <a:ea typeface="Verdana"/>
              </a:rPr>
              <a:t>on a date</a:t>
            </a:r>
            <a:r>
              <a:rPr lang="en-US" sz="1600">
                <a:ea typeface="Verdan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09A8A-2328-CE03-D484-9C3C8A145B8C}"/>
              </a:ext>
            </a:extLst>
          </p:cNvPr>
          <p:cNvSpPr txBox="1"/>
          <p:nvPr/>
        </p:nvSpPr>
        <p:spPr>
          <a:xfrm>
            <a:off x="4294413" y="2461058"/>
            <a:ext cx="2743200" cy="620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 sz="1600" b="1">
                <a:ea typeface="Verdana"/>
              </a:rPr>
              <a:t>Hidden Layer 1</a:t>
            </a:r>
            <a:endParaRPr lang="en-US"/>
          </a:p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ea typeface="Verdana"/>
              </a:rPr>
              <a:t>119 x 1000</a:t>
            </a:r>
            <a:endParaRPr lang="en-US" sz="1600" noProof="0">
              <a:solidFill>
                <a:schemeClr val="tx1"/>
              </a:solidFill>
              <a:ea typeface="Verd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54E8C-F12E-9A12-002E-D11093BDB8A6}"/>
              </a:ext>
            </a:extLst>
          </p:cNvPr>
          <p:cNvSpPr txBox="1"/>
          <p:nvPr/>
        </p:nvSpPr>
        <p:spPr>
          <a:xfrm>
            <a:off x="6668387" y="2469814"/>
            <a:ext cx="2743200" cy="620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 sz="1600" b="1">
                <a:ea typeface="Verdana"/>
              </a:rPr>
              <a:t>Hidden Layer 2</a:t>
            </a:r>
            <a:endParaRPr lang="en-US"/>
          </a:p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ea typeface="Verdana"/>
              </a:rPr>
              <a:t>1000 x 64</a:t>
            </a:r>
            <a:endParaRPr lang="en-US" sz="1600" noProof="0">
              <a:solidFill>
                <a:schemeClr val="tx1"/>
              </a:solidFill>
              <a:ea typeface="V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601-B84D-D761-895E-B45DB6FA10FC}"/>
              </a:ext>
            </a:extLst>
          </p:cNvPr>
          <p:cNvSpPr txBox="1"/>
          <p:nvPr/>
        </p:nvSpPr>
        <p:spPr>
          <a:xfrm>
            <a:off x="9409043" y="3432075"/>
            <a:ext cx="2919737" cy="18979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 sz="1600" b="1">
                <a:ea typeface="Verdana"/>
              </a:rPr>
              <a:t>Output Layer</a:t>
            </a:r>
            <a:endParaRPr lang="en-US"/>
          </a:p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ea typeface="Verdana"/>
              </a:rPr>
              <a:t>64 x 2 (binary yes-1/no-0)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400" u="sng">
                <a:ea typeface="Verdana"/>
              </a:rPr>
              <a:t>Example : </a:t>
            </a:r>
          </a:p>
          <a:p>
            <a:pPr>
              <a:spcAft>
                <a:spcPts val="1000"/>
              </a:spcAft>
            </a:pPr>
            <a:r>
              <a:rPr lang="en-US" sz="1400">
                <a:ea typeface="Verdana"/>
              </a:rPr>
              <a:t>Event 'Stock Price Up' (1/0)</a:t>
            </a:r>
          </a:p>
          <a:p>
            <a:pPr>
              <a:spcAft>
                <a:spcPts val="1000"/>
              </a:spcAft>
            </a:pPr>
            <a:r>
              <a:rPr lang="en-US" sz="1400">
                <a:ea typeface="Verdana"/>
              </a:rPr>
              <a:t>Event 'Stock Price Down' (1/0)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617EC-3E15-5B13-F2C2-E35D5DA512C5}"/>
              </a:ext>
            </a:extLst>
          </p:cNvPr>
          <p:cNvSpPr txBox="1"/>
          <p:nvPr/>
        </p:nvSpPr>
        <p:spPr>
          <a:xfrm>
            <a:off x="506186" y="642257"/>
            <a:ext cx="394743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>
                <a:ea typeface="Verdana"/>
              </a:rPr>
              <a:t>Structure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3A30C-5B0D-7057-678C-D0C20AAA2C9D}"/>
              </a:ext>
            </a:extLst>
          </p:cNvPr>
          <p:cNvSpPr txBox="1"/>
          <p:nvPr/>
        </p:nvSpPr>
        <p:spPr>
          <a:xfrm>
            <a:off x="4041912" y="955042"/>
            <a:ext cx="4852307" cy="995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ea typeface="Verdana"/>
              </a:rPr>
              <a:t>Data : Apple news events frequency per date</a:t>
            </a:r>
          </a:p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ea typeface="Verdana"/>
              </a:rPr>
              <a:t>Train : 2020-01-01 -&gt; 2023-07-10</a:t>
            </a:r>
          </a:p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ea typeface="Verdana"/>
              </a:rPr>
              <a:t>Test : 2023-07-10 -&gt; 2024-07-21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9E422E-2818-E4CD-CBFA-F4A960EFA364}"/>
              </a:ext>
            </a:extLst>
          </p:cNvPr>
          <p:cNvSpPr/>
          <p:nvPr/>
        </p:nvSpPr>
        <p:spPr bwMode="gray">
          <a:xfrm>
            <a:off x="4200937" y="2454964"/>
            <a:ext cx="1888434" cy="298175"/>
          </a:xfrm>
          <a:prstGeom prst="rect">
            <a:avLst/>
          </a:prstGeom>
          <a:noFill/>
          <a:ln w="57150" algn="ctr">
            <a:solidFill>
              <a:srgbClr val="1E806A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320844-A43F-E9BC-6E7F-F03C34F50990}"/>
              </a:ext>
            </a:extLst>
          </p:cNvPr>
          <p:cNvSpPr/>
          <p:nvPr/>
        </p:nvSpPr>
        <p:spPr bwMode="gray">
          <a:xfrm>
            <a:off x="6559824" y="2454963"/>
            <a:ext cx="1888434" cy="298175"/>
          </a:xfrm>
          <a:prstGeom prst="rect">
            <a:avLst/>
          </a:prstGeom>
          <a:noFill/>
          <a:ln w="57150" algn="ctr">
            <a:solidFill>
              <a:srgbClr val="1E806A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6AAA67-E03D-9769-0C62-8C1AD9A3A1C5}"/>
              </a:ext>
            </a:extLst>
          </p:cNvPr>
          <p:cNvSpPr/>
          <p:nvPr/>
        </p:nvSpPr>
        <p:spPr bwMode="gray">
          <a:xfrm>
            <a:off x="9309652" y="3428999"/>
            <a:ext cx="1702904" cy="331305"/>
          </a:xfrm>
          <a:prstGeom prst="rect">
            <a:avLst/>
          </a:prstGeom>
          <a:noFill/>
          <a:ln w="57150" algn="ctr">
            <a:solidFill>
              <a:srgbClr val="1E806A"/>
            </a:solidFill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2511286"/>
                      <a:gd name="connsiteY0" fmla="*/ 0 h 324679"/>
                      <a:gd name="connsiteX1" fmla="*/ 452031 w 2511286"/>
                      <a:gd name="connsiteY1" fmla="*/ 0 h 324679"/>
                      <a:gd name="connsiteX2" fmla="*/ 979402 w 2511286"/>
                      <a:gd name="connsiteY2" fmla="*/ 0 h 324679"/>
                      <a:gd name="connsiteX3" fmla="*/ 1406320 w 2511286"/>
                      <a:gd name="connsiteY3" fmla="*/ 0 h 324679"/>
                      <a:gd name="connsiteX4" fmla="*/ 1958803 w 2511286"/>
                      <a:gd name="connsiteY4" fmla="*/ 0 h 324679"/>
                      <a:gd name="connsiteX5" fmla="*/ 2511286 w 2511286"/>
                      <a:gd name="connsiteY5" fmla="*/ 0 h 324679"/>
                      <a:gd name="connsiteX6" fmla="*/ 2511286 w 2511286"/>
                      <a:gd name="connsiteY6" fmla="*/ 324679 h 324679"/>
                      <a:gd name="connsiteX7" fmla="*/ 2034142 w 2511286"/>
                      <a:gd name="connsiteY7" fmla="*/ 324679 h 324679"/>
                      <a:gd name="connsiteX8" fmla="*/ 1582110 w 2511286"/>
                      <a:gd name="connsiteY8" fmla="*/ 324679 h 324679"/>
                      <a:gd name="connsiteX9" fmla="*/ 1029627 w 2511286"/>
                      <a:gd name="connsiteY9" fmla="*/ 324679 h 324679"/>
                      <a:gd name="connsiteX10" fmla="*/ 577596 w 2511286"/>
                      <a:gd name="connsiteY10" fmla="*/ 324679 h 324679"/>
                      <a:gd name="connsiteX11" fmla="*/ 0 w 2511286"/>
                      <a:gd name="connsiteY11" fmla="*/ 324679 h 324679"/>
                      <a:gd name="connsiteX12" fmla="*/ 0 w 2511286"/>
                      <a:gd name="connsiteY12" fmla="*/ 0 h 3246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511286" h="324679" fill="none" extrusionOk="0">
                        <a:moveTo>
                          <a:pt x="0" y="0"/>
                        </a:moveTo>
                        <a:cubicBezTo>
                          <a:pt x="115556" y="-44895"/>
                          <a:pt x="277316" y="53986"/>
                          <a:pt x="452031" y="0"/>
                        </a:cubicBezTo>
                        <a:cubicBezTo>
                          <a:pt x="626746" y="-53986"/>
                          <a:pt x="809785" y="63159"/>
                          <a:pt x="979402" y="0"/>
                        </a:cubicBezTo>
                        <a:cubicBezTo>
                          <a:pt x="1149019" y="-63159"/>
                          <a:pt x="1311143" y="33992"/>
                          <a:pt x="1406320" y="0"/>
                        </a:cubicBezTo>
                        <a:cubicBezTo>
                          <a:pt x="1501497" y="-33992"/>
                          <a:pt x="1786961" y="26032"/>
                          <a:pt x="1958803" y="0"/>
                        </a:cubicBezTo>
                        <a:cubicBezTo>
                          <a:pt x="2130645" y="-26032"/>
                          <a:pt x="2367989" y="5855"/>
                          <a:pt x="2511286" y="0"/>
                        </a:cubicBezTo>
                        <a:cubicBezTo>
                          <a:pt x="2521899" y="156342"/>
                          <a:pt x="2485684" y="233797"/>
                          <a:pt x="2511286" y="324679"/>
                        </a:cubicBezTo>
                        <a:cubicBezTo>
                          <a:pt x="2275301" y="370113"/>
                          <a:pt x="2173910" y="297836"/>
                          <a:pt x="2034142" y="324679"/>
                        </a:cubicBezTo>
                        <a:cubicBezTo>
                          <a:pt x="1894374" y="351522"/>
                          <a:pt x="1801889" y="304203"/>
                          <a:pt x="1582110" y="324679"/>
                        </a:cubicBezTo>
                        <a:cubicBezTo>
                          <a:pt x="1362331" y="345155"/>
                          <a:pt x="1175313" y="278637"/>
                          <a:pt x="1029627" y="324679"/>
                        </a:cubicBezTo>
                        <a:cubicBezTo>
                          <a:pt x="883941" y="370721"/>
                          <a:pt x="778488" y="280646"/>
                          <a:pt x="577596" y="324679"/>
                        </a:cubicBezTo>
                        <a:cubicBezTo>
                          <a:pt x="376704" y="368712"/>
                          <a:pt x="125149" y="317405"/>
                          <a:pt x="0" y="324679"/>
                        </a:cubicBezTo>
                        <a:cubicBezTo>
                          <a:pt x="-10497" y="190827"/>
                          <a:pt x="30902" y="148800"/>
                          <a:pt x="0" y="0"/>
                        </a:cubicBezTo>
                        <a:close/>
                      </a:path>
                      <a:path w="2511286" h="324679" stroke="0" extrusionOk="0">
                        <a:moveTo>
                          <a:pt x="0" y="0"/>
                        </a:moveTo>
                        <a:cubicBezTo>
                          <a:pt x="200057" y="-37349"/>
                          <a:pt x="278864" y="32201"/>
                          <a:pt x="477144" y="0"/>
                        </a:cubicBezTo>
                        <a:cubicBezTo>
                          <a:pt x="675424" y="-32201"/>
                          <a:pt x="731911" y="26935"/>
                          <a:pt x="929176" y="0"/>
                        </a:cubicBezTo>
                        <a:cubicBezTo>
                          <a:pt x="1126441" y="-26935"/>
                          <a:pt x="1200876" y="45995"/>
                          <a:pt x="1381207" y="0"/>
                        </a:cubicBezTo>
                        <a:cubicBezTo>
                          <a:pt x="1561538" y="-45995"/>
                          <a:pt x="1697490" y="19060"/>
                          <a:pt x="1808126" y="0"/>
                        </a:cubicBezTo>
                        <a:cubicBezTo>
                          <a:pt x="1918762" y="-19060"/>
                          <a:pt x="2347150" y="9379"/>
                          <a:pt x="2511286" y="0"/>
                        </a:cubicBezTo>
                        <a:cubicBezTo>
                          <a:pt x="2533424" y="155166"/>
                          <a:pt x="2482974" y="247670"/>
                          <a:pt x="2511286" y="324679"/>
                        </a:cubicBezTo>
                        <a:cubicBezTo>
                          <a:pt x="2345071" y="374024"/>
                          <a:pt x="2199564" y="277927"/>
                          <a:pt x="2084367" y="324679"/>
                        </a:cubicBezTo>
                        <a:cubicBezTo>
                          <a:pt x="1969170" y="371431"/>
                          <a:pt x="1751204" y="265324"/>
                          <a:pt x="1531884" y="324679"/>
                        </a:cubicBezTo>
                        <a:cubicBezTo>
                          <a:pt x="1312564" y="384034"/>
                          <a:pt x="1304526" y="278268"/>
                          <a:pt x="1079853" y="324679"/>
                        </a:cubicBezTo>
                        <a:cubicBezTo>
                          <a:pt x="855180" y="371090"/>
                          <a:pt x="764145" y="273122"/>
                          <a:pt x="627821" y="324679"/>
                        </a:cubicBezTo>
                        <a:cubicBezTo>
                          <a:pt x="491497" y="376236"/>
                          <a:pt x="150707" y="253698"/>
                          <a:pt x="0" y="324679"/>
                        </a:cubicBezTo>
                        <a:cubicBezTo>
                          <a:pt x="-34164" y="256242"/>
                          <a:pt x="36820" y="667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88900" tIns="88900" rIns="88900" bIns="88900" rtlCol="0" anchor="ctr"/>
          <a:lstStyle>
            <a:defPPr>
              <a:defRPr lang="en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C89BE2-1F9E-C39B-5808-CF5E12FFF015}"/>
              </a:ext>
            </a:extLst>
          </p:cNvPr>
          <p:cNvSpPr/>
          <p:nvPr/>
        </p:nvSpPr>
        <p:spPr bwMode="gray">
          <a:xfrm>
            <a:off x="3982552" y="881023"/>
            <a:ext cx="5146333" cy="1141110"/>
          </a:xfrm>
          <a:prstGeom prst="rect">
            <a:avLst/>
          </a:prstGeom>
          <a:noFill/>
          <a:ln w="28575" algn="ctr">
            <a:solidFill>
              <a:srgbClr val="1E806A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67063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2F8A-7E40-4291-0E1C-17B1FBE2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8" y="602423"/>
            <a:ext cx="11188700" cy="692150"/>
          </a:xfrm>
        </p:spPr>
        <p:txBody>
          <a:bodyPr/>
          <a:lstStyle/>
          <a:p>
            <a:r>
              <a:rPr lang="en-US">
                <a:ea typeface="Verdana"/>
              </a:rPr>
              <a:t>Hyperparameters Tuning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29187-D614-E2DB-3400-84C3AF5179B3}"/>
              </a:ext>
            </a:extLst>
          </p:cNvPr>
          <p:cNvSpPr txBox="1"/>
          <p:nvPr/>
        </p:nvSpPr>
        <p:spPr>
          <a:xfrm>
            <a:off x="404192" y="298174"/>
            <a:ext cx="39756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GB" sz="2000" b="1">
                <a:solidFill>
                  <a:srgbClr val="1E806A"/>
                </a:solidFill>
              </a:rPr>
              <a:t>Multilayer Neural Network </a:t>
            </a:r>
            <a:endParaRPr lang="en-US" sz="2000">
              <a:ea typeface="Verdana"/>
            </a:endParaRPr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06F4EF36-9F96-3804-442E-C23D51FE51CB}"/>
              </a:ext>
            </a:extLst>
          </p:cNvPr>
          <p:cNvCxnSpPr/>
          <p:nvPr/>
        </p:nvCxnSpPr>
        <p:spPr>
          <a:xfrm>
            <a:off x="418908" y="982917"/>
            <a:ext cx="520349" cy="0"/>
          </a:xfrm>
          <a:prstGeom prst="line">
            <a:avLst/>
          </a:prstGeom>
          <a:ln w="38100">
            <a:solidFill>
              <a:srgbClr val="706F6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graph with blue lines&#10;&#10;Description automatically generated">
            <a:extLst>
              <a:ext uri="{FF2B5EF4-FFF2-40B4-BE49-F238E27FC236}">
                <a16:creationId xmlns:a16="http://schemas.microsoft.com/office/drawing/2014/main" id="{8D71A171-85F5-46EA-09CE-CAC3BA81F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01" y="1290431"/>
            <a:ext cx="5085347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D79BEF-1819-1BF5-2AD5-9104C61ECE0D}"/>
              </a:ext>
            </a:extLst>
          </p:cNvPr>
          <p:cNvSpPr txBox="1"/>
          <p:nvPr/>
        </p:nvSpPr>
        <p:spPr>
          <a:xfrm>
            <a:off x="6265733" y="1293626"/>
            <a:ext cx="7036253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SzPct val="100000"/>
            </a:pPr>
            <a:r>
              <a:rPr lang="en-US">
                <a:ea typeface="+mn-lt"/>
                <a:cs typeface="+mn-lt"/>
              </a:rPr>
              <a:t>Optimal Parameters</a:t>
            </a:r>
          </a:p>
          <a:p>
            <a:r>
              <a:rPr lang="en-US">
                <a:ea typeface="+mn-lt"/>
                <a:cs typeface="+mn-lt"/>
              </a:rPr>
              <a:t>(lower loss value preferred)</a:t>
            </a:r>
          </a:p>
          <a:p>
            <a:endParaRPr lang="en-US" u="sng">
              <a:ea typeface="+mn-lt"/>
              <a:cs typeface="+mn-lt"/>
            </a:endParaRPr>
          </a:p>
          <a:p>
            <a:pPr>
              <a:buSzPct val="100000"/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n_epochs</a:t>
            </a:r>
            <a:r>
              <a:rPr lang="en-US">
                <a:ea typeface="+mn-lt"/>
                <a:cs typeface="+mn-lt"/>
              </a:rPr>
              <a:t> = 250</a:t>
            </a:r>
          </a:p>
          <a:p>
            <a:pPr>
              <a:buSzPct val="100000"/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batch_size</a:t>
            </a:r>
            <a:r>
              <a:rPr lang="en-US">
                <a:ea typeface="+mn-lt"/>
                <a:cs typeface="+mn-lt"/>
              </a:rPr>
              <a:t> = 5</a:t>
            </a:r>
          </a:p>
          <a:p>
            <a:pPr>
              <a:buSzPct val="100000"/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hidden_layers</a:t>
            </a:r>
            <a:r>
              <a:rPr lang="en-US">
                <a:ea typeface="+mn-lt"/>
                <a:cs typeface="+mn-lt"/>
              </a:rPr>
              <a:t> = [1000, 64]</a:t>
            </a:r>
            <a:endParaRPr lang="en-US">
              <a:ea typeface="Verdana"/>
            </a:endParaRPr>
          </a:p>
          <a:p>
            <a:pPr>
              <a:buSzPct val="100000"/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Activation = </a:t>
            </a:r>
            <a:r>
              <a:rPr lang="en-US" err="1">
                <a:ea typeface="+mn-lt"/>
                <a:cs typeface="+mn-lt"/>
              </a:rPr>
              <a:t>relu</a:t>
            </a:r>
            <a:endParaRPr lang="en-US">
              <a:ea typeface="Verdana"/>
            </a:endParaRPr>
          </a:p>
          <a:p>
            <a:pPr>
              <a:buSzPct val="100000"/>
            </a:pPr>
            <a:endParaRPr lang="en-US">
              <a:ea typeface="+mn-lt"/>
              <a:cs typeface="+mn-lt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>
                <a:ea typeface="+mn-lt"/>
                <a:cs typeface="+mn-lt"/>
              </a:rPr>
              <a:t>Loss &lt;= 0.528</a:t>
            </a:r>
            <a:endParaRPr lang="en-US">
              <a:ea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82ECF-0216-7877-1420-D1C2566D3CF1}"/>
              </a:ext>
            </a:extLst>
          </p:cNvPr>
          <p:cNvSpPr txBox="1"/>
          <p:nvPr/>
        </p:nvSpPr>
        <p:spPr>
          <a:xfrm>
            <a:off x="6266385" y="4369372"/>
            <a:ext cx="3293520" cy="17902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>
                <a:ea typeface="Verdana"/>
              </a:rPr>
              <a:t>Loss tends to be stable as number of epoch approaches 500</a:t>
            </a:r>
          </a:p>
          <a:p>
            <a:pPr marL="175895" indent="-175895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>
                <a:ea typeface="Verdana"/>
              </a:rPr>
              <a:t>But if it getting too big, there will be potential overfitting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86D9A-1D45-30A6-EE17-14CBEB4BDEED}"/>
              </a:ext>
            </a:extLst>
          </p:cNvPr>
          <p:cNvSpPr txBox="1"/>
          <p:nvPr/>
        </p:nvSpPr>
        <p:spPr>
          <a:xfrm>
            <a:off x="404192" y="5917095"/>
            <a:ext cx="631466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latin typeface="Menlo"/>
              </a:rPr>
              <a:t>BCEWithLogitsLoss</a:t>
            </a:r>
            <a:r>
              <a:rPr lang="en-US" sz="1600">
                <a:latin typeface="Menlo"/>
              </a:rPr>
              <a:t> for multi-label classification </a:t>
            </a:r>
            <a:r>
              <a:rPr lang="en-US" sz="1600"/>
              <a:t>BCE(</a:t>
            </a:r>
            <a:r>
              <a:rPr lang="en-US" sz="1600" err="1"/>
              <a:t>p,y</a:t>
            </a:r>
            <a:r>
              <a:rPr lang="en-US" sz="1600"/>
              <a:t>)=−[y*log(p)+(1−y)*log(1−p)]</a:t>
            </a:r>
            <a:endParaRPr lang="en-US" sz="1600">
              <a:ea typeface="Verdan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E94B5-5F97-4C0E-D10A-979F0FB57E19}"/>
              </a:ext>
            </a:extLst>
          </p:cNvPr>
          <p:cNvSpPr/>
          <p:nvPr/>
        </p:nvSpPr>
        <p:spPr bwMode="gray">
          <a:xfrm>
            <a:off x="6098519" y="1158113"/>
            <a:ext cx="3710499" cy="2633623"/>
          </a:xfrm>
          <a:prstGeom prst="rect">
            <a:avLst/>
          </a:prstGeom>
          <a:noFill/>
          <a:ln w="57150" algn="ctr">
            <a:solidFill>
              <a:srgbClr val="1E806A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57352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01D5CF84-CAFC-062C-1929-966133D4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88" y="989124"/>
            <a:ext cx="9368517" cy="393648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129975F-7D50-024F-BD9F-CE3BEAD7CA14}"/>
              </a:ext>
            </a:extLst>
          </p:cNvPr>
          <p:cNvSpPr txBox="1">
            <a:spLocks/>
          </p:cNvSpPr>
          <p:nvPr/>
        </p:nvSpPr>
        <p:spPr bwMode="gray">
          <a:xfrm>
            <a:off x="484262" y="329131"/>
            <a:ext cx="11188700" cy="692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>
                <a:solidFill>
                  <a:srgbClr val="1E806A"/>
                </a:solidFill>
                <a:latin typeface="Verdana"/>
              </a:rPr>
              <a:t>Model Performance</a:t>
            </a:r>
            <a:endParaRPr lang="en-US">
              <a:ea typeface="+mj-ea"/>
              <a:cs typeface="+mj-c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latin typeface="Verdana"/>
              </a:rPr>
              <a:t>Model Performance Evaluation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</p:txBody>
      </p:sp>
      <p:cxnSp>
        <p:nvCxnSpPr>
          <p:cNvPr id="20" name="Straight Connector 3">
            <a:extLst>
              <a:ext uri="{FF2B5EF4-FFF2-40B4-BE49-F238E27FC236}">
                <a16:creationId xmlns:a16="http://schemas.microsoft.com/office/drawing/2014/main" id="{28A52138-D351-A54C-A6D4-CD32C88B4ED7}"/>
              </a:ext>
            </a:extLst>
          </p:cNvPr>
          <p:cNvCxnSpPr/>
          <p:nvPr/>
        </p:nvCxnSpPr>
        <p:spPr>
          <a:xfrm>
            <a:off x="511851" y="988419"/>
            <a:ext cx="520349" cy="0"/>
          </a:xfrm>
          <a:prstGeom prst="line">
            <a:avLst/>
          </a:prstGeom>
          <a:ln w="38100">
            <a:solidFill>
              <a:srgbClr val="706F6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F734CD-70ED-6271-B668-7BFF5AD2C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445109"/>
              </p:ext>
            </p:extLst>
          </p:nvPr>
        </p:nvGraphicFramePr>
        <p:xfrm>
          <a:off x="1807100" y="4950352"/>
          <a:ext cx="8168640" cy="148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420749365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650362749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935488843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712749365"/>
                    </a:ext>
                  </a:extLst>
                </a:gridCol>
              </a:tblGrid>
              <a:tr h="3710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531782"/>
                  </a:ext>
                </a:extLst>
              </a:tr>
              <a:tr h="3710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Verdana"/>
                        </a:rPr>
                        <a:t>Accuracy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Menlo"/>
                        </a:rPr>
                        <a:t>57%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Menlo"/>
                        </a:rPr>
                        <a:t>58%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58</a:t>
                      </a:r>
                      <a:r>
                        <a:rPr lang="en-US" sz="1800" b="0" i="0" u="none" strike="noStrike" noProof="0">
                          <a:latin typeface="Menlo"/>
                        </a:rPr>
                        <a:t>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61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Menlo"/>
                        </a:rPr>
                        <a:t>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Menlo"/>
                        </a:rPr>
                        <a:t>59%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57</a:t>
                      </a:r>
                      <a:r>
                        <a:rPr lang="en-US" sz="1800" b="0" i="0" u="none" strike="noStrike" noProof="0">
                          <a:latin typeface="Menlo"/>
                        </a:rPr>
                        <a:t>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616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Recall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Menlo"/>
                        </a:rPr>
                        <a:t>62%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Menlo"/>
                        </a:rPr>
                        <a:t>54%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769791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4E5E96F5-21C1-77AE-7FB7-AACE7B7E52CA}"/>
              </a:ext>
            </a:extLst>
          </p:cNvPr>
          <p:cNvSpPr/>
          <p:nvPr/>
        </p:nvSpPr>
        <p:spPr bwMode="gray">
          <a:xfrm>
            <a:off x="1378226" y="1136373"/>
            <a:ext cx="430696" cy="417444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FB14A8-5A24-A9F1-DC5D-604316EA15F6}"/>
              </a:ext>
            </a:extLst>
          </p:cNvPr>
          <p:cNvSpPr/>
          <p:nvPr/>
        </p:nvSpPr>
        <p:spPr bwMode="gray">
          <a:xfrm>
            <a:off x="1378225" y="4157868"/>
            <a:ext cx="430696" cy="417444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324C2E-91DD-0773-CF7A-26EC1BC6F020}"/>
              </a:ext>
            </a:extLst>
          </p:cNvPr>
          <p:cNvSpPr/>
          <p:nvPr/>
        </p:nvSpPr>
        <p:spPr bwMode="gray">
          <a:xfrm>
            <a:off x="5989982" y="1136372"/>
            <a:ext cx="430696" cy="417444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1FCD3D-F0E9-74F1-F072-59996A4028B6}"/>
              </a:ext>
            </a:extLst>
          </p:cNvPr>
          <p:cNvSpPr/>
          <p:nvPr/>
        </p:nvSpPr>
        <p:spPr bwMode="gray">
          <a:xfrm>
            <a:off x="5989982" y="4157868"/>
            <a:ext cx="430696" cy="417444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4B3B2-0B3C-A9E3-AC19-7627070E4045}"/>
              </a:ext>
            </a:extLst>
          </p:cNvPr>
          <p:cNvSpPr txBox="1"/>
          <p:nvPr/>
        </p:nvSpPr>
        <p:spPr>
          <a:xfrm>
            <a:off x="510209" y="1232451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en-US" b="1">
                <a:solidFill>
                  <a:srgbClr val="FF0000"/>
                </a:solidFill>
                <a:ea typeface="Verdana"/>
              </a:rPr>
              <a:t>1-yes</a:t>
            </a:r>
            <a:endParaRPr lang="en-US" b="1" noProof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90E91-C55F-9EE2-54CB-6D9DC7D98A02}"/>
              </a:ext>
            </a:extLst>
          </p:cNvPr>
          <p:cNvSpPr txBox="1"/>
          <p:nvPr/>
        </p:nvSpPr>
        <p:spPr>
          <a:xfrm>
            <a:off x="513285" y="4293054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en-US" b="1">
                <a:solidFill>
                  <a:srgbClr val="FF0000"/>
                </a:solidFill>
                <a:ea typeface="Verdana"/>
              </a:rPr>
              <a:t>0-No</a:t>
            </a:r>
            <a:endParaRPr lang="en-US" b="1" noProof="0">
              <a:solidFill>
                <a:srgbClr val="FF0000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6405562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63E136-02F4-8FBD-36A7-22792C650100}"/>
              </a:ext>
            </a:extLst>
          </p:cNvPr>
          <p:cNvSpPr txBox="1">
            <a:spLocks/>
          </p:cNvSpPr>
          <p:nvPr/>
        </p:nvSpPr>
        <p:spPr bwMode="gray">
          <a:xfrm>
            <a:off x="497514" y="329131"/>
            <a:ext cx="11188700" cy="692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>
                <a:solidFill>
                  <a:srgbClr val="1E806A"/>
                </a:solidFill>
                <a:latin typeface="Verdana"/>
              </a:rPr>
              <a:t>Future Outlook</a:t>
            </a:r>
            <a:endParaRPr lang="en-US">
              <a:ea typeface="+mj-ea"/>
              <a:cs typeface="+mj-c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latin typeface="Verdana"/>
              </a:rPr>
              <a:t>Limitation &amp; Improvement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j-ea"/>
              <a:cs typeface="+mj-cs"/>
            </a:endParaRPr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B09A4E88-E386-B832-D9D2-42F96FAB03A8}"/>
              </a:ext>
            </a:extLst>
          </p:cNvPr>
          <p:cNvCxnSpPr/>
          <p:nvPr/>
        </p:nvCxnSpPr>
        <p:spPr>
          <a:xfrm>
            <a:off x="511851" y="988419"/>
            <a:ext cx="520349" cy="0"/>
          </a:xfrm>
          <a:prstGeom prst="line">
            <a:avLst/>
          </a:prstGeom>
          <a:ln w="38100">
            <a:solidFill>
              <a:srgbClr val="706F6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079970-01B8-7EFD-5FD3-C69475950BFD}"/>
              </a:ext>
            </a:extLst>
          </p:cNvPr>
          <p:cNvSpPr txBox="1"/>
          <p:nvPr/>
        </p:nvSpPr>
        <p:spPr>
          <a:xfrm>
            <a:off x="511804" y="1843886"/>
            <a:ext cx="7492093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>
                <a:ea typeface="Verdana"/>
              </a:rPr>
              <a:t>This is just a start ...</a:t>
            </a:r>
          </a:p>
          <a:p>
            <a:pPr marL="285750" indent="-285750">
              <a:spcAft>
                <a:spcPts val="1000"/>
              </a:spcAft>
              <a:buSzPct val="100000"/>
              <a:buFont typeface="Courier New"/>
              <a:buChar char="o"/>
            </a:pPr>
            <a:r>
              <a:rPr lang="en-US" sz="1600">
                <a:ea typeface="Verdana"/>
              </a:rPr>
              <a:t>Universe : Train with data from more companies</a:t>
            </a:r>
            <a:endParaRPr lang="en-US">
              <a:ea typeface="Verdana"/>
            </a:endParaRPr>
          </a:p>
          <a:p>
            <a:pPr marL="742950" lvl="1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>
                <a:ea typeface="Verdana"/>
              </a:rPr>
              <a:t>Current model is trained by Apple data only</a:t>
            </a:r>
          </a:p>
          <a:p>
            <a:pPr marL="285750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>
                <a:ea typeface="Verdana"/>
              </a:rPr>
              <a:t>Model : Try Long Short-term Memory Model (LSTM)</a:t>
            </a:r>
          </a:p>
          <a:p>
            <a:pPr marL="742950" lvl="1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>
                <a:ea typeface="Verdana"/>
              </a:rPr>
              <a:t>LSTM uses wider time frame data to make prediction</a:t>
            </a:r>
          </a:p>
          <a:p>
            <a:pPr marL="742950" lvl="1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>
                <a:ea typeface="Verdana"/>
              </a:rPr>
              <a:t>Allow sequences of data instead of individual points </a:t>
            </a:r>
          </a:p>
          <a:p>
            <a:pPr marL="285750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>
                <a:ea typeface="Verdana"/>
              </a:rPr>
              <a:t>Different Event outputs:</a:t>
            </a:r>
            <a:endParaRPr lang="en-US">
              <a:ea typeface="Verdana"/>
            </a:endParaRPr>
          </a:p>
          <a:p>
            <a:pPr marL="742950" lvl="1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>
                <a:ea typeface="Verdana"/>
              </a:rPr>
              <a:t>Predict more events than just stock price</a:t>
            </a:r>
          </a:p>
          <a:p>
            <a:pPr marL="285750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>
                <a:ea typeface="Verdana"/>
              </a:rPr>
              <a:t>Feature Engineering:</a:t>
            </a:r>
          </a:p>
          <a:p>
            <a:pPr marL="742950" lvl="1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>
                <a:ea typeface="Verdana"/>
              </a:rPr>
              <a:t>Change Binary approach, as its dropping information</a:t>
            </a:r>
          </a:p>
          <a:p>
            <a:pPr marL="742950" lvl="1" indent="-285750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</a:pPr>
            <a:endParaRPr lang="en-US" sz="1600">
              <a:ea typeface="Verdana"/>
            </a:endParaRPr>
          </a:p>
          <a:p>
            <a:pPr>
              <a:spcAft>
                <a:spcPts val="1000"/>
              </a:spcAft>
              <a:buSzPct val="100000"/>
            </a:pPr>
            <a:endParaRPr lang="en-US" sz="1200">
              <a:ea typeface="Verdana"/>
            </a:endParaRPr>
          </a:p>
          <a:p>
            <a:pPr marL="175895" indent="-175895">
              <a:spcAft>
                <a:spcPts val="1000"/>
              </a:spcAft>
              <a:buSzPct val="100000"/>
              <a:buFont typeface="Calibri"/>
              <a:buChar char="-"/>
            </a:pPr>
            <a:endParaRPr lang="en-US" sz="12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7499745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61DD-E2CD-9069-53F9-25B0774BC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65840-6060-F7C6-4DCF-C9B2CD9E5637}"/>
              </a:ext>
            </a:extLst>
          </p:cNvPr>
          <p:cNvSpPr txBox="1"/>
          <p:nvPr/>
        </p:nvSpPr>
        <p:spPr>
          <a:xfrm>
            <a:off x="2437839" y="2752016"/>
            <a:ext cx="822204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 sz="4400">
                <a:ea typeface="Verdana"/>
              </a:rPr>
              <a:t>Thank you everyone! :)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0040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loitte_UK_Onscreen">
  <a:themeElements>
    <a:clrScheme name="Deloitte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954F72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solidFill>
            <a:schemeClr val="accent3"/>
          </a:solidFill>
          <a:miter lim="800000"/>
          <a:headEnd/>
          <a:tailEnd/>
        </a:ln>
      </a:spPr>
      <a:bodyPr wrap="square" lIns="88900" tIns="88900" rIns="88900" bIns="88900" rtlCol="0" anchor="ctr"/>
      <a:lstStyle>
        <a:defPPr algn="ctr">
          <a:lnSpc>
            <a:spcPct val="106000"/>
          </a:lnSpc>
          <a:buFont typeface="Wingdings 2" pitchFamily="18" charset="2"/>
          <a:buNone/>
          <a:defRPr sz="1600" b="1" noProof="0" dirty="0" err="1" smtClean="0">
            <a:solidFill>
              <a:schemeClr val="bg1"/>
            </a:solidFill>
          </a:defRPr>
        </a:defPPr>
      </a:lstStyle>
    </a:spDef>
    <a:lnDef>
      <a:spPr>
        <a:ln>
          <a:solidFill>
            <a:srgbClr val="44546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6400" indent="-176400">
          <a:spcBef>
            <a:spcPts val="0"/>
          </a:spcBef>
          <a:spcAft>
            <a:spcPts val="1000"/>
          </a:spcAft>
          <a:buSzPct val="100000"/>
          <a:buFont typeface="Arial"/>
          <a:buChar char="•"/>
          <a:defRPr sz="1200" noProof="0"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</a:custClrLst>
  <a:extLst>
    <a:ext uri="{05A4C25C-085E-4340-85A3-A5531E510DB2}">
      <thm15:themeFamily xmlns:thm15="http://schemas.microsoft.com/office/thememl/2012/main" name="Presentation (4-3).potx" id="{81226782-3F4C-4FAE-ACB3-7A350325E9DA}" vid="{E3359E41-2FE4-49EA-92B0-D3F400C55B5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Theme</vt:lpstr>
      <vt:lpstr>Deloitte_UK_Onscreen</vt:lpstr>
      <vt:lpstr>PowerPoint Presentation</vt:lpstr>
      <vt:lpstr>PowerPoint Presentation</vt:lpstr>
      <vt:lpstr>PowerPoint Presentation</vt:lpstr>
      <vt:lpstr>PowerPoint Presentation</vt:lpstr>
      <vt:lpstr>Hyperparameters Tuning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Dependencies</dc:title>
  <dc:creator>Alexander Pieper</dc:creator>
  <cp:revision>3</cp:revision>
  <dcterms:created xsi:type="dcterms:W3CDTF">2020-11-30T14:52:23Z</dcterms:created>
  <dcterms:modified xsi:type="dcterms:W3CDTF">2024-08-14T12:48:33Z</dcterms:modified>
</cp:coreProperties>
</file>